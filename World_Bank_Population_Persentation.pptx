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8" r:id="rId20"/>
    <p:sldId id="276" r:id="rId21"/>
    <p:sldId id="277" r:id="rId22"/>
    <p:sldId id="279" r:id="rId23"/>
    <p:sldId id="280" r:id="rId24"/>
    <p:sldId id="281" r:id="rId25"/>
    <p:sldId id="282" r:id="rId26"/>
    <p:sldId id="284" r:id="rId27"/>
    <p:sldId id="285" r:id="rId28"/>
    <p:sldId id="286" r:id="rId29"/>
    <p:sldId id="283"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3DFBA34-887C-4F87-A377-2457AAFA4F8B}" type="datetimeFigureOut">
              <a:rPr lang="en-US" smtClean="0"/>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1557E-4605-4E88-B0C4-6636DC7FD353}" type="slidenum">
              <a:rPr lang="en-US" smtClean="0"/>
              <a:t>‹#›</a:t>
            </a:fld>
            <a:endParaRPr lang="en-US"/>
          </a:p>
        </p:txBody>
      </p:sp>
    </p:spTree>
    <p:extLst>
      <p:ext uri="{BB962C8B-B14F-4D97-AF65-F5344CB8AC3E}">
        <p14:creationId xmlns:p14="http://schemas.microsoft.com/office/powerpoint/2010/main" val="1941551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DFBA34-887C-4F87-A377-2457AAFA4F8B}" type="datetimeFigureOut">
              <a:rPr lang="en-US" smtClean="0"/>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1557E-4605-4E88-B0C4-6636DC7FD353}" type="slidenum">
              <a:rPr lang="en-US" smtClean="0"/>
              <a:t>‹#›</a:t>
            </a:fld>
            <a:endParaRPr lang="en-US"/>
          </a:p>
        </p:txBody>
      </p:sp>
    </p:spTree>
    <p:extLst>
      <p:ext uri="{BB962C8B-B14F-4D97-AF65-F5344CB8AC3E}">
        <p14:creationId xmlns:p14="http://schemas.microsoft.com/office/powerpoint/2010/main" val="394867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FBA34-887C-4F87-A377-2457AAFA4F8B}" type="datetimeFigureOut">
              <a:rPr lang="en-US" smtClean="0"/>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1557E-4605-4E88-B0C4-6636DC7FD353}" type="slidenum">
              <a:rPr lang="en-US" smtClean="0"/>
              <a:t>‹#›</a:t>
            </a:fld>
            <a:endParaRPr lang="en-US"/>
          </a:p>
        </p:txBody>
      </p:sp>
    </p:spTree>
    <p:extLst>
      <p:ext uri="{BB962C8B-B14F-4D97-AF65-F5344CB8AC3E}">
        <p14:creationId xmlns:p14="http://schemas.microsoft.com/office/powerpoint/2010/main" val="3226967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DFBA34-887C-4F87-A377-2457AAFA4F8B}" type="datetimeFigureOut">
              <a:rPr lang="en-US" smtClean="0"/>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1557E-4605-4E88-B0C4-6636DC7FD353}" type="slidenum">
              <a:rPr lang="en-US" smtClean="0"/>
              <a:t>‹#›</a:t>
            </a:fld>
            <a:endParaRPr lang="en-US"/>
          </a:p>
        </p:txBody>
      </p:sp>
    </p:spTree>
    <p:extLst>
      <p:ext uri="{BB962C8B-B14F-4D97-AF65-F5344CB8AC3E}">
        <p14:creationId xmlns:p14="http://schemas.microsoft.com/office/powerpoint/2010/main" val="368539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DFBA34-887C-4F87-A377-2457AAFA4F8B}" type="datetimeFigureOut">
              <a:rPr lang="en-US" smtClean="0"/>
              <a:t>9/3/2025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1557E-4605-4E88-B0C4-6636DC7FD353}" type="slidenum">
              <a:rPr lang="en-US" smtClean="0"/>
              <a:t>‹#›</a:t>
            </a:fld>
            <a:endParaRPr lang="en-US"/>
          </a:p>
        </p:txBody>
      </p:sp>
    </p:spTree>
    <p:extLst>
      <p:ext uri="{BB962C8B-B14F-4D97-AF65-F5344CB8AC3E}">
        <p14:creationId xmlns:p14="http://schemas.microsoft.com/office/powerpoint/2010/main" val="2397623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DFBA34-887C-4F87-A377-2457AAFA4F8B}" type="datetimeFigureOut">
              <a:rPr lang="en-US" smtClean="0"/>
              <a:t>9/3/2025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1557E-4605-4E88-B0C4-6636DC7FD353}" type="slidenum">
              <a:rPr lang="en-US" smtClean="0"/>
              <a:t>‹#›</a:t>
            </a:fld>
            <a:endParaRPr lang="en-US"/>
          </a:p>
        </p:txBody>
      </p:sp>
    </p:spTree>
    <p:extLst>
      <p:ext uri="{BB962C8B-B14F-4D97-AF65-F5344CB8AC3E}">
        <p14:creationId xmlns:p14="http://schemas.microsoft.com/office/powerpoint/2010/main" val="3054091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DFBA34-887C-4F87-A377-2457AAFA4F8B}" type="datetimeFigureOut">
              <a:rPr lang="en-US" smtClean="0"/>
              <a:t>9/3/2025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1557E-4605-4E88-B0C4-6636DC7FD353}" type="slidenum">
              <a:rPr lang="en-US" smtClean="0"/>
              <a:t>‹#›</a:t>
            </a:fld>
            <a:endParaRPr lang="en-US"/>
          </a:p>
        </p:txBody>
      </p:sp>
    </p:spTree>
    <p:extLst>
      <p:ext uri="{BB962C8B-B14F-4D97-AF65-F5344CB8AC3E}">
        <p14:creationId xmlns:p14="http://schemas.microsoft.com/office/powerpoint/2010/main" val="490399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DFBA34-887C-4F87-A377-2457AAFA4F8B}" type="datetimeFigureOut">
              <a:rPr lang="en-US" smtClean="0"/>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1557E-4605-4E88-B0C4-6636DC7FD353}" type="slidenum">
              <a:rPr lang="en-US" smtClean="0"/>
              <a:t>‹#›</a:t>
            </a:fld>
            <a:endParaRPr lang="en-US"/>
          </a:p>
        </p:txBody>
      </p:sp>
    </p:spTree>
    <p:extLst>
      <p:ext uri="{BB962C8B-B14F-4D97-AF65-F5344CB8AC3E}">
        <p14:creationId xmlns:p14="http://schemas.microsoft.com/office/powerpoint/2010/main" val="2235257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DFBA34-887C-4F87-A377-2457AAFA4F8B}" type="datetimeFigureOut">
              <a:rPr lang="en-US" smtClean="0"/>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1557E-4605-4E88-B0C4-6636DC7FD353}" type="slidenum">
              <a:rPr lang="en-US" smtClean="0"/>
              <a:t>‹#›</a:t>
            </a:fld>
            <a:endParaRPr lang="en-US"/>
          </a:p>
        </p:txBody>
      </p:sp>
    </p:spTree>
    <p:extLst>
      <p:ext uri="{BB962C8B-B14F-4D97-AF65-F5344CB8AC3E}">
        <p14:creationId xmlns:p14="http://schemas.microsoft.com/office/powerpoint/2010/main" val="3974548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DFBA34-887C-4F87-A377-2457AAFA4F8B}" type="datetimeFigureOut">
              <a:rPr lang="en-US" smtClean="0"/>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1557E-4605-4E88-B0C4-6636DC7FD353}" type="slidenum">
              <a:rPr lang="en-US" smtClean="0"/>
              <a:t>‹#›</a:t>
            </a:fld>
            <a:endParaRPr lang="en-US"/>
          </a:p>
        </p:txBody>
      </p:sp>
    </p:spTree>
    <p:extLst>
      <p:ext uri="{BB962C8B-B14F-4D97-AF65-F5344CB8AC3E}">
        <p14:creationId xmlns:p14="http://schemas.microsoft.com/office/powerpoint/2010/main" val="1243104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DFBA34-887C-4F87-A377-2457AAFA4F8B}" type="datetimeFigureOut">
              <a:rPr lang="en-US" smtClean="0"/>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1557E-4605-4E88-B0C4-6636DC7FD353}" type="slidenum">
              <a:rPr lang="en-US" smtClean="0"/>
              <a:t>‹#›</a:t>
            </a:fld>
            <a:endParaRPr lang="en-US"/>
          </a:p>
        </p:txBody>
      </p:sp>
    </p:spTree>
    <p:extLst>
      <p:ext uri="{BB962C8B-B14F-4D97-AF65-F5344CB8AC3E}">
        <p14:creationId xmlns:p14="http://schemas.microsoft.com/office/powerpoint/2010/main" val="14694000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DFBA34-887C-4F87-A377-2457AAFA4F8B}" type="datetimeFigureOut">
              <a:rPr lang="en-US" smtClean="0"/>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1557E-4605-4E88-B0C4-6636DC7FD353}"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426140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DFBA34-887C-4F87-A377-2457AAFA4F8B}" type="datetimeFigureOut">
              <a:rPr lang="en-US" smtClean="0"/>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1557E-4605-4E88-B0C4-6636DC7FD353}" type="slidenum">
              <a:rPr lang="en-US" smtClean="0"/>
              <a:t>‹#›</a:t>
            </a:fld>
            <a:endParaRPr lang="en-US"/>
          </a:p>
        </p:txBody>
      </p:sp>
    </p:spTree>
    <p:extLst>
      <p:ext uri="{BB962C8B-B14F-4D97-AF65-F5344CB8AC3E}">
        <p14:creationId xmlns:p14="http://schemas.microsoft.com/office/powerpoint/2010/main" val="29395475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3DFBA34-887C-4F87-A377-2457AAFA4F8B}" type="datetimeFigureOut">
              <a:rPr lang="en-US" smtClean="0"/>
              <a:t>9/3/2025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1557E-4605-4E88-B0C4-6636DC7FD353}" type="slidenum">
              <a:rPr lang="en-US" smtClean="0"/>
              <a:t>‹#›</a:t>
            </a:fld>
            <a:endParaRPr lang="en-US"/>
          </a:p>
        </p:txBody>
      </p:sp>
    </p:spTree>
    <p:extLst>
      <p:ext uri="{BB962C8B-B14F-4D97-AF65-F5344CB8AC3E}">
        <p14:creationId xmlns:p14="http://schemas.microsoft.com/office/powerpoint/2010/main" val="19845000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3DFBA34-887C-4F87-A377-2457AAFA4F8B}" type="datetimeFigureOut">
              <a:rPr lang="en-US" smtClean="0"/>
              <a:t>9/3/2025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1557E-4605-4E88-B0C4-6636DC7FD353}" type="slidenum">
              <a:rPr lang="en-US" smtClean="0"/>
              <a:t>‹#›</a:t>
            </a:fld>
            <a:endParaRPr lang="en-US"/>
          </a:p>
        </p:txBody>
      </p:sp>
    </p:spTree>
    <p:extLst>
      <p:ext uri="{BB962C8B-B14F-4D97-AF65-F5344CB8AC3E}">
        <p14:creationId xmlns:p14="http://schemas.microsoft.com/office/powerpoint/2010/main" val="3439914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DFBA34-887C-4F87-A377-2457AAFA4F8B}" type="datetimeFigureOut">
              <a:rPr lang="en-US" smtClean="0"/>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1557E-4605-4E88-B0C4-6636DC7FD353}" type="slidenum">
              <a:rPr lang="en-US" smtClean="0"/>
              <a:t>‹#›</a:t>
            </a:fld>
            <a:endParaRPr lang="en-US"/>
          </a:p>
        </p:txBody>
      </p:sp>
    </p:spTree>
    <p:extLst>
      <p:ext uri="{BB962C8B-B14F-4D97-AF65-F5344CB8AC3E}">
        <p14:creationId xmlns:p14="http://schemas.microsoft.com/office/powerpoint/2010/main" val="29271976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DFBA34-887C-4F87-A377-2457AAFA4F8B}" type="datetimeFigureOut">
              <a:rPr lang="en-US" smtClean="0"/>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1557E-4605-4E88-B0C4-6636DC7FD353}" type="slidenum">
              <a:rPr lang="en-US" smtClean="0"/>
              <a:t>‹#›</a:t>
            </a:fld>
            <a:endParaRPr lang="en-US"/>
          </a:p>
        </p:txBody>
      </p:sp>
    </p:spTree>
    <p:extLst>
      <p:ext uri="{BB962C8B-B14F-4D97-AF65-F5344CB8AC3E}">
        <p14:creationId xmlns:p14="http://schemas.microsoft.com/office/powerpoint/2010/main" val="2154047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63DFBA34-887C-4F87-A377-2457AAFA4F8B}" type="datetimeFigureOut">
              <a:rPr lang="en-US" smtClean="0"/>
              <a:t>9/3/2025</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7E1557E-4605-4E88-B0C4-6636DC7FD353}" type="slidenum">
              <a:rPr lang="en-US" smtClean="0"/>
              <a:t>‹#›</a:t>
            </a:fld>
            <a:endParaRPr lang="en-US"/>
          </a:p>
        </p:txBody>
      </p:sp>
    </p:spTree>
    <p:extLst>
      <p:ext uri="{BB962C8B-B14F-4D97-AF65-F5344CB8AC3E}">
        <p14:creationId xmlns:p14="http://schemas.microsoft.com/office/powerpoint/2010/main" val="3235094218"/>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ourworldindata.org/how-to-use-our-world-in-data-visualizations-in-presentations/" TargetMode="External"/><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svg"/><Relationship Id="rId10" Type="http://schemas.openxmlformats.org/officeDocument/2006/relationships/image" Target="../media/image27.jpg"/><Relationship Id="rId4" Type="http://schemas.openxmlformats.org/officeDocument/2006/relationships/image" Target="../media/image21.png"/><Relationship Id="rId9" Type="http://schemas.openxmlformats.org/officeDocument/2006/relationships/image" Target="../media/image26.jpg"/></Relationships>
</file>

<file path=ppt/slides/_rels/slide25.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FFC1B-1C2F-14FC-6B49-C91B781C18EC}"/>
              </a:ext>
            </a:extLst>
          </p:cNvPr>
          <p:cNvSpPr>
            <a:spLocks noGrp="1"/>
          </p:cNvSpPr>
          <p:nvPr>
            <p:ph type="ctrTitle"/>
          </p:nvPr>
        </p:nvSpPr>
        <p:spPr/>
        <p:txBody>
          <a:bodyPr/>
          <a:lstStyle/>
          <a:p>
            <a:r>
              <a:rPr lang="en-US" dirty="0"/>
              <a:t>   </a:t>
            </a:r>
          </a:p>
        </p:txBody>
      </p:sp>
      <p:sp>
        <p:nvSpPr>
          <p:cNvPr id="3" name="Subtitle 2">
            <a:extLst>
              <a:ext uri="{FF2B5EF4-FFF2-40B4-BE49-F238E27FC236}">
                <a16:creationId xmlns:a16="http://schemas.microsoft.com/office/drawing/2014/main" id="{1DB397E6-4682-175D-7C74-AF5F7C7F40E6}"/>
              </a:ext>
            </a:extLst>
          </p:cNvPr>
          <p:cNvSpPr>
            <a:spLocks noGrp="1"/>
          </p:cNvSpPr>
          <p:nvPr>
            <p:ph type="subTitle" idx="1"/>
          </p:nvPr>
        </p:nvSpPr>
        <p:spPr/>
        <p:txBody>
          <a:bodyPr/>
          <a:lstStyle/>
          <a:p>
            <a:endParaRPr lang="en-US"/>
          </a:p>
        </p:txBody>
      </p:sp>
      <p:pic>
        <p:nvPicPr>
          <p:cNvPr id="16" name="Picture 15" descr="A blue and yellow world map&#10;&#10;AI-generated content may be incorrect.">
            <a:extLst>
              <a:ext uri="{FF2B5EF4-FFF2-40B4-BE49-F238E27FC236}">
                <a16:creationId xmlns:a16="http://schemas.microsoft.com/office/drawing/2014/main" id="{71AED7C9-3250-B065-F5B7-E02168E1DD7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943725"/>
          </a:xfrm>
          <a:prstGeom prst="rect">
            <a:avLst/>
          </a:prstGeom>
        </p:spPr>
      </p:pic>
      <p:sp>
        <p:nvSpPr>
          <p:cNvPr id="18" name="TextBox 17">
            <a:extLst>
              <a:ext uri="{FF2B5EF4-FFF2-40B4-BE49-F238E27FC236}">
                <a16:creationId xmlns:a16="http://schemas.microsoft.com/office/drawing/2014/main" id="{45A074F6-5F57-D618-94A0-C19EB7398C7C}"/>
              </a:ext>
            </a:extLst>
          </p:cNvPr>
          <p:cNvSpPr txBox="1"/>
          <p:nvPr/>
        </p:nvSpPr>
        <p:spPr>
          <a:xfrm>
            <a:off x="620791" y="1608060"/>
            <a:ext cx="10039351" cy="1077218"/>
          </a:xfrm>
          <a:prstGeom prst="rect">
            <a:avLst/>
          </a:prstGeom>
          <a:noFill/>
        </p:spPr>
        <p:txBody>
          <a:bodyPr wrap="square" rtlCol="0">
            <a:spAutoFit/>
          </a:bodyPr>
          <a:lstStyle/>
          <a:p>
            <a:pPr algn="ctr"/>
            <a:r>
              <a:rPr lang="en-US" sz="4000" dirty="0">
                <a:solidFill>
                  <a:srgbClr val="FFC000"/>
                </a:solidFill>
              </a:rPr>
              <a:t>World Bank POPULATION</a:t>
            </a:r>
            <a:br>
              <a:rPr lang="en-US" sz="4000" dirty="0">
                <a:solidFill>
                  <a:srgbClr val="FFC000"/>
                </a:solidFill>
              </a:rPr>
            </a:br>
            <a:r>
              <a:rPr lang="en-US" sz="2400" dirty="0">
                <a:solidFill>
                  <a:srgbClr val="FFC000"/>
                </a:solidFill>
              </a:rPr>
              <a:t>from 2000 to 2024                                               </a:t>
            </a:r>
            <a:r>
              <a:rPr lang="en-US" sz="2400" dirty="0"/>
              <a:t>                                     </a:t>
            </a:r>
          </a:p>
        </p:txBody>
      </p:sp>
    </p:spTree>
    <p:extLst>
      <p:ext uri="{BB962C8B-B14F-4D97-AF65-F5344CB8AC3E}">
        <p14:creationId xmlns:p14="http://schemas.microsoft.com/office/powerpoint/2010/main" val="195165370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ircle(in)">
                                      <p:cBhvr>
                                        <p:cTn id="7" dur="20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circle(in)">
                                      <p:cBhvr>
                                        <p:cTn id="12" dur="20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circle(in)">
                                      <p:cBhvr>
                                        <p:cTn id="17"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C5327-1B5D-9977-4A94-814FD32F3F64}"/>
              </a:ext>
            </a:extLst>
          </p:cNvPr>
          <p:cNvSpPr>
            <a:spLocks noGrp="1"/>
          </p:cNvSpPr>
          <p:nvPr>
            <p:ph type="title"/>
          </p:nvPr>
        </p:nvSpPr>
        <p:spPr/>
        <p:txBody>
          <a:bodyPr/>
          <a:lstStyle/>
          <a:p>
            <a:r>
              <a:rPr lang="en-US" dirty="0">
                <a:solidFill>
                  <a:srgbClr val="FFC000"/>
                </a:solidFill>
              </a:rPr>
              <a:t>What Is the project About ?</a:t>
            </a:r>
            <a:endParaRPr lang="en-US" dirty="0"/>
          </a:p>
        </p:txBody>
      </p:sp>
      <p:sp>
        <p:nvSpPr>
          <p:cNvPr id="3" name="Content Placeholder 2">
            <a:extLst>
              <a:ext uri="{FF2B5EF4-FFF2-40B4-BE49-F238E27FC236}">
                <a16:creationId xmlns:a16="http://schemas.microsoft.com/office/drawing/2014/main" id="{328DC73F-4437-7E7B-DBD4-1825E4079EAF}"/>
              </a:ext>
            </a:extLst>
          </p:cNvPr>
          <p:cNvSpPr>
            <a:spLocks noGrp="1"/>
          </p:cNvSpPr>
          <p:nvPr>
            <p:ph idx="1"/>
          </p:nvPr>
        </p:nvSpPr>
        <p:spPr/>
        <p:txBody>
          <a:bodyPr>
            <a:normAutofit/>
          </a:bodyPr>
          <a:lstStyle/>
          <a:p>
            <a:r>
              <a:rPr lang="en-US" sz="2800" b="0" i="0" dirty="0">
                <a:solidFill>
                  <a:srgbClr val="FFC000"/>
                </a:solidFill>
                <a:effectLst/>
                <a:latin typeface="quote-cjk-patch"/>
              </a:rPr>
              <a:t>This project is a comprehensive analysis of World Bank population data, tracking global demographic trends over several decades. It's not just about numbers—it's about understanding the story behind human population growth, distribution, and its implications for our future.</a:t>
            </a:r>
            <a:endParaRPr lang="en-US" sz="2800" dirty="0"/>
          </a:p>
        </p:txBody>
      </p:sp>
    </p:spTree>
    <p:extLst>
      <p:ext uri="{BB962C8B-B14F-4D97-AF65-F5344CB8AC3E}">
        <p14:creationId xmlns:p14="http://schemas.microsoft.com/office/powerpoint/2010/main" val="2730594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9EFC8-905F-F7D8-D7AC-A89E50CBF6ED}"/>
              </a:ext>
            </a:extLst>
          </p:cNvPr>
          <p:cNvSpPr>
            <a:spLocks noGrp="1"/>
          </p:cNvSpPr>
          <p:nvPr>
            <p:ph type="title"/>
          </p:nvPr>
        </p:nvSpPr>
        <p:spPr/>
        <p:txBody>
          <a:bodyPr/>
          <a:lstStyle/>
          <a:p>
            <a:r>
              <a:rPr lang="en-US" b="1" i="0" dirty="0">
                <a:solidFill>
                  <a:srgbClr val="FFC000"/>
                </a:solidFill>
                <a:effectLst/>
                <a:latin typeface="quote-cjk-patch"/>
              </a:rPr>
              <a:t>Why does this matter?</a:t>
            </a:r>
            <a:endParaRPr lang="en-US" dirty="0">
              <a:solidFill>
                <a:srgbClr val="FFC000"/>
              </a:solidFill>
            </a:endParaRPr>
          </a:p>
        </p:txBody>
      </p:sp>
      <p:sp>
        <p:nvSpPr>
          <p:cNvPr id="3" name="Content Placeholder 2">
            <a:extLst>
              <a:ext uri="{FF2B5EF4-FFF2-40B4-BE49-F238E27FC236}">
                <a16:creationId xmlns:a16="http://schemas.microsoft.com/office/drawing/2014/main" id="{46AB550D-9907-2221-034A-9055ECA6A580}"/>
              </a:ext>
            </a:extLst>
          </p:cNvPr>
          <p:cNvSpPr>
            <a:spLocks noGrp="1"/>
          </p:cNvSpPr>
          <p:nvPr>
            <p:ph idx="1"/>
          </p:nvPr>
        </p:nvSpPr>
        <p:spPr/>
        <p:txBody>
          <a:bodyPr>
            <a:normAutofit/>
          </a:bodyPr>
          <a:lstStyle/>
          <a:p>
            <a:r>
              <a:rPr lang="en-US" sz="2800" b="0" i="0" dirty="0">
                <a:solidFill>
                  <a:srgbClr val="FFC000"/>
                </a:solidFill>
                <a:effectLst/>
                <a:latin typeface="quote-cjk-patch"/>
              </a:rPr>
              <a:t>Because population dynamics directly impact economic growth, resource allocation, urban planning, and sustainability efforts worldwide. By analyzing this data, we can identify critical trends such as rapid urbanization, aging populations, and shifting growth centers—all crucial for policymakers, economists, and global strategists.</a:t>
            </a:r>
            <a:endParaRPr lang="en-US" sz="2800" dirty="0">
              <a:solidFill>
                <a:srgbClr val="FFC000"/>
              </a:solidFill>
            </a:endParaRPr>
          </a:p>
        </p:txBody>
      </p:sp>
    </p:spTree>
    <p:extLst>
      <p:ext uri="{BB962C8B-B14F-4D97-AF65-F5344CB8AC3E}">
        <p14:creationId xmlns:p14="http://schemas.microsoft.com/office/powerpoint/2010/main" val="385161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157E4-042B-BC81-3EE4-7FC8C881E243}"/>
              </a:ext>
            </a:extLst>
          </p:cNvPr>
          <p:cNvSpPr>
            <a:spLocks noGrp="1"/>
          </p:cNvSpPr>
          <p:nvPr>
            <p:ph type="title"/>
          </p:nvPr>
        </p:nvSpPr>
        <p:spPr/>
        <p:txBody>
          <a:bodyPr/>
          <a:lstStyle/>
          <a:p>
            <a:r>
              <a:rPr lang="en-US" b="1" i="0" dirty="0">
                <a:solidFill>
                  <a:srgbClr val="FFC000"/>
                </a:solidFill>
                <a:effectLst/>
                <a:latin typeface="quote-cjk-patch"/>
              </a:rPr>
              <a:t>What did we discover?</a:t>
            </a:r>
            <a:endParaRPr lang="en-US" dirty="0">
              <a:solidFill>
                <a:srgbClr val="FFC000"/>
              </a:solidFill>
            </a:endParaRPr>
          </a:p>
        </p:txBody>
      </p:sp>
      <p:sp>
        <p:nvSpPr>
          <p:cNvPr id="3" name="Content Placeholder 2">
            <a:extLst>
              <a:ext uri="{FF2B5EF4-FFF2-40B4-BE49-F238E27FC236}">
                <a16:creationId xmlns:a16="http://schemas.microsoft.com/office/drawing/2014/main" id="{93C9D62D-F523-392D-E03C-A2778D039B01}"/>
              </a:ext>
            </a:extLst>
          </p:cNvPr>
          <p:cNvSpPr>
            <a:spLocks noGrp="1"/>
          </p:cNvSpPr>
          <p:nvPr>
            <p:ph idx="1"/>
          </p:nvPr>
        </p:nvSpPr>
        <p:spPr/>
        <p:txBody>
          <a:bodyPr/>
          <a:lstStyle/>
          <a:p>
            <a:pPr algn="l"/>
            <a:r>
              <a:rPr lang="en-US" sz="2800" b="0" i="0" dirty="0">
                <a:solidFill>
                  <a:srgbClr val="FFC000"/>
                </a:solidFill>
                <a:effectLst/>
                <a:latin typeface="quote-cjk-patch"/>
              </a:rPr>
              <a:t>Our analysis reveals striking insights: uneven population growth across regions, the rise of megacities, and demographic transitions that will redefine global economies in the coming decades. These findings help us anticipate future challenges and opportunities in areas like healthcare, education, and infrastructure development.</a:t>
            </a:r>
          </a:p>
          <a:p>
            <a:pPr algn="l"/>
            <a:r>
              <a:rPr lang="en-US" sz="2800" b="0" i="0" dirty="0">
                <a:solidFill>
                  <a:srgbClr val="FFC000"/>
                </a:solidFill>
                <a:effectLst/>
                <a:latin typeface="quote-cjk-patch"/>
              </a:rPr>
              <a:t>This project doesn’t just look at where we’ve been—it helps us prepare for where we’re headed.</a:t>
            </a:r>
          </a:p>
          <a:p>
            <a:endParaRPr lang="en-US" dirty="0"/>
          </a:p>
        </p:txBody>
      </p:sp>
    </p:spTree>
    <p:extLst>
      <p:ext uri="{BB962C8B-B14F-4D97-AF65-F5344CB8AC3E}">
        <p14:creationId xmlns:p14="http://schemas.microsoft.com/office/powerpoint/2010/main" val="4152428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2E8CB-E8A2-9A54-C113-28345CC6018C}"/>
              </a:ext>
            </a:extLst>
          </p:cNvPr>
          <p:cNvSpPr>
            <a:spLocks noGrp="1"/>
          </p:cNvSpPr>
          <p:nvPr>
            <p:ph type="title"/>
          </p:nvPr>
        </p:nvSpPr>
        <p:spPr/>
        <p:txBody>
          <a:bodyPr>
            <a:noAutofit/>
          </a:bodyPr>
          <a:lstStyle/>
          <a:p>
            <a:r>
              <a:rPr lang="en-US" sz="1800" dirty="0">
                <a:solidFill>
                  <a:srgbClr val="FFC000"/>
                </a:solidFill>
                <a:effectLst/>
                <a:latin typeface="quote-cjk-patch"/>
              </a:rPr>
              <a:t>B</a:t>
            </a:r>
            <a:r>
              <a:rPr lang="en-US" sz="1800" b="0" i="0" dirty="0">
                <a:solidFill>
                  <a:srgbClr val="FFC000"/>
                </a:solidFill>
                <a:effectLst/>
                <a:latin typeface="quote-cjk-patch"/>
              </a:rPr>
              <a:t>efore we get to those fascinating insights, it's important to understand the raw material we started with. </a:t>
            </a:r>
            <a:r>
              <a:rPr lang="en-US" sz="1800" b="1" i="0" dirty="0">
                <a:solidFill>
                  <a:srgbClr val="FFC000"/>
                </a:solidFill>
                <a:effectLst/>
                <a:latin typeface="quote-cjk-patch"/>
              </a:rPr>
              <a:t>The journey from raw data to revelation was the most critical part of this project</a:t>
            </a:r>
            <a:endParaRPr lang="en-US" sz="1800" dirty="0">
              <a:solidFill>
                <a:srgbClr val="FFC000"/>
              </a:solidFill>
            </a:endParaRPr>
          </a:p>
        </p:txBody>
      </p:sp>
      <p:sp>
        <p:nvSpPr>
          <p:cNvPr id="3" name="Content Placeholder 2">
            <a:extLst>
              <a:ext uri="{FF2B5EF4-FFF2-40B4-BE49-F238E27FC236}">
                <a16:creationId xmlns:a16="http://schemas.microsoft.com/office/drawing/2014/main" id="{60458088-19D9-0969-1FC9-50DC74C9E625}"/>
              </a:ext>
            </a:extLst>
          </p:cNvPr>
          <p:cNvSpPr>
            <a:spLocks noGrp="1"/>
          </p:cNvSpPr>
          <p:nvPr>
            <p:ph idx="1"/>
          </p:nvPr>
        </p:nvSpPr>
        <p:spPr/>
        <p:txBody>
          <a:bodyPr/>
          <a:lstStyle/>
          <a:p>
            <a:pPr algn="l">
              <a:buFont typeface="Arial" panose="020B0604020202020204" pitchFamily="34" charset="0"/>
              <a:buChar char="•"/>
            </a:pPr>
            <a:r>
              <a:rPr lang="en-US" dirty="0"/>
              <a:t>To be honest the Raw-Data was too messy &amp; it had the common  issues that you meet in common with Raw-Data  so it was…..</a:t>
            </a:r>
            <a:br>
              <a:rPr lang="en-US" dirty="0"/>
            </a:br>
            <a:br>
              <a:rPr lang="en-US" dirty="0"/>
            </a:br>
            <a:r>
              <a:rPr lang="en-US" dirty="0">
                <a:solidFill>
                  <a:srgbClr val="FFC000"/>
                </a:solidFill>
              </a:rPr>
              <a:t>Unorganized:</a:t>
            </a:r>
            <a:r>
              <a:rPr lang="en-US" b="0" i="0" dirty="0">
                <a:solidFill>
                  <a:srgbClr val="FFC000"/>
                </a:solidFill>
                <a:effectLst/>
                <a:latin typeface="quote-cjk-patch"/>
              </a:rPr>
              <a:t> Data points were scattered, making it difficult to get a clear timeline or regional comparison.</a:t>
            </a:r>
            <a:br>
              <a:rPr lang="en-US" b="0" i="0" dirty="0">
                <a:solidFill>
                  <a:srgbClr val="FFC000"/>
                </a:solidFill>
                <a:effectLst/>
                <a:latin typeface="quote-cjk-patch"/>
              </a:rPr>
            </a:br>
            <a:br>
              <a:rPr lang="en-US" b="0" i="0" dirty="0">
                <a:solidFill>
                  <a:srgbClr val="FFC000"/>
                </a:solidFill>
                <a:effectLst/>
                <a:latin typeface="quote-cjk-patch"/>
              </a:rPr>
            </a:br>
            <a:r>
              <a:rPr lang="en-US" b="1" i="0" dirty="0">
                <a:solidFill>
                  <a:srgbClr val="FFC000"/>
                </a:solidFill>
                <a:effectLst/>
                <a:latin typeface="quote-cjk-patch"/>
              </a:rPr>
              <a:t> Incomplete:</a:t>
            </a:r>
            <a:r>
              <a:rPr lang="en-US" b="0" i="0" dirty="0">
                <a:solidFill>
                  <a:srgbClr val="FFC000"/>
                </a:solidFill>
                <a:effectLst/>
                <a:latin typeface="quote-cjk-patch"/>
              </a:rPr>
              <a:t> We faced a significant number of </a:t>
            </a:r>
            <a:r>
              <a:rPr lang="en-US" b="1" i="0" dirty="0">
                <a:solidFill>
                  <a:srgbClr val="FFC000"/>
                </a:solidFill>
                <a:effectLst/>
                <a:latin typeface="quote-cjk-patch"/>
              </a:rPr>
              <a:t>empty cells and missing values</a:t>
            </a:r>
            <a:r>
              <a:rPr lang="en-US" b="0" i="0" dirty="0">
                <a:solidFill>
                  <a:srgbClr val="FFC000"/>
                </a:solidFill>
                <a:effectLst/>
                <a:latin typeface="quote-cjk-patch"/>
              </a:rPr>
              <a:t>, especially in earlier years for certain countries. This required careful handling to avoid skewed results.</a:t>
            </a:r>
            <a:br>
              <a:rPr lang="en-US" b="0" i="0" dirty="0">
                <a:solidFill>
                  <a:srgbClr val="FFC000"/>
                </a:solidFill>
                <a:effectLst/>
                <a:latin typeface="quote-cjk-patch"/>
              </a:rPr>
            </a:br>
            <a:endParaRPr lang="en-US" b="0" i="0" dirty="0">
              <a:solidFill>
                <a:srgbClr val="FFC000"/>
              </a:solidFill>
              <a:effectLst/>
              <a:latin typeface="quote-cjk-patch"/>
            </a:endParaRPr>
          </a:p>
          <a:p>
            <a:pPr algn="l">
              <a:buFont typeface="Arial" panose="020B0604020202020204" pitchFamily="34" charset="0"/>
              <a:buChar char="•"/>
            </a:pPr>
            <a:r>
              <a:rPr lang="en-US" b="1" i="0" dirty="0">
                <a:solidFill>
                  <a:srgbClr val="FFC000"/>
                </a:solidFill>
                <a:effectLst/>
                <a:latin typeface="quote-cjk-patch"/>
              </a:rPr>
              <a:t>Bloated with Irrelevant Columns:</a:t>
            </a:r>
            <a:r>
              <a:rPr lang="en-US" b="0" i="0" dirty="0">
                <a:solidFill>
                  <a:srgbClr val="FFC000"/>
                </a:solidFill>
                <a:effectLst/>
                <a:latin typeface="quote-cjk-patch"/>
              </a:rPr>
              <a:t> The dataset came loaded with columns that added no value to a population analysis. For example:</a:t>
            </a:r>
          </a:p>
        </p:txBody>
      </p:sp>
      <p:sp>
        <p:nvSpPr>
          <p:cNvPr id="4" name="Rectangle 1">
            <a:extLst>
              <a:ext uri="{FF2B5EF4-FFF2-40B4-BE49-F238E27FC236}">
                <a16:creationId xmlns:a16="http://schemas.microsoft.com/office/drawing/2014/main" id="{C26D04FF-9E21-0F3F-B8B8-D6E74B5D1419}"/>
              </a:ext>
            </a:extLst>
          </p:cNvPr>
          <p:cNvSpPr>
            <a:spLocks noChangeArrowheads="1"/>
          </p:cNvSpPr>
          <p:nvPr/>
        </p:nvSpPr>
        <p:spPr bwMode="auto">
          <a:xfrm>
            <a:off x="0" y="-151319"/>
            <a:ext cx="65" cy="30263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5392"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7F2991C7-3B52-91F0-FAB4-6991D2288337}"/>
              </a:ext>
            </a:extLst>
          </p:cNvPr>
          <p:cNvSpPr>
            <a:spLocks noChangeArrowheads="1"/>
          </p:cNvSpPr>
          <p:nvPr/>
        </p:nvSpPr>
        <p:spPr bwMode="auto">
          <a:xfrm>
            <a:off x="0" y="-289819"/>
            <a:ext cx="65" cy="579638"/>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5392"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F0C650C2-33B8-B4D3-2337-4219D1DC859A}"/>
              </a:ext>
            </a:extLst>
          </p:cNvPr>
          <p:cNvSpPr>
            <a:spLocks noChangeArrowheads="1"/>
          </p:cNvSpPr>
          <p:nvPr/>
        </p:nvSpPr>
        <p:spPr bwMode="auto">
          <a:xfrm>
            <a:off x="-65" y="-273187"/>
            <a:ext cx="65" cy="579638"/>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5392"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87113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9668D-E1C0-F9E5-7906-E625FAD7016B}"/>
              </a:ext>
            </a:extLst>
          </p:cNvPr>
          <p:cNvSpPr>
            <a:spLocks noGrp="1"/>
          </p:cNvSpPr>
          <p:nvPr>
            <p:ph type="title"/>
          </p:nvPr>
        </p:nvSpPr>
        <p:spPr>
          <a:xfrm>
            <a:off x="568562" y="450980"/>
            <a:ext cx="10353762" cy="970450"/>
          </a:xfrm>
        </p:spPr>
        <p:txBody>
          <a:bodyPr>
            <a:normAutofit fontScale="90000"/>
          </a:bodyPr>
          <a:lstStyle/>
          <a:p>
            <a:r>
              <a:rPr lang="en-US" dirty="0">
                <a:solidFill>
                  <a:srgbClr val="FFC000"/>
                </a:solidFill>
              </a:rPr>
              <a:t>After collecting the data and notice the problems in </a:t>
            </a:r>
            <a:r>
              <a:rPr lang="en-US" dirty="0" err="1">
                <a:solidFill>
                  <a:srgbClr val="FFC000"/>
                </a:solidFill>
              </a:rPr>
              <a:t>Raw_data</a:t>
            </a:r>
            <a:r>
              <a:rPr lang="en-US" dirty="0">
                <a:solidFill>
                  <a:srgbClr val="FFC000"/>
                </a:solidFill>
              </a:rPr>
              <a:t> we move to the next step: Data Cleaning</a:t>
            </a:r>
          </a:p>
        </p:txBody>
      </p:sp>
      <p:pic>
        <p:nvPicPr>
          <p:cNvPr id="5" name="Content Placeholder 4">
            <a:extLst>
              <a:ext uri="{FF2B5EF4-FFF2-40B4-BE49-F238E27FC236}">
                <a16:creationId xmlns:a16="http://schemas.microsoft.com/office/drawing/2014/main" id="{CDBCE0B2-2AA5-E249-FA2B-22AC62178F3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8090" y="1742992"/>
            <a:ext cx="8294914" cy="4430582"/>
          </a:xfrm>
        </p:spPr>
      </p:pic>
    </p:spTree>
    <p:extLst>
      <p:ext uri="{BB962C8B-B14F-4D97-AF65-F5344CB8AC3E}">
        <p14:creationId xmlns:p14="http://schemas.microsoft.com/office/powerpoint/2010/main" val="1506693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01B67-69A4-8377-8A2C-F9A979C652C4}"/>
              </a:ext>
            </a:extLst>
          </p:cNvPr>
          <p:cNvSpPr>
            <a:spLocks noGrp="1"/>
          </p:cNvSpPr>
          <p:nvPr>
            <p:ph type="title"/>
          </p:nvPr>
        </p:nvSpPr>
        <p:spPr/>
        <p:txBody>
          <a:bodyPr/>
          <a:lstStyle/>
          <a:p>
            <a:r>
              <a:rPr lang="en-US" dirty="0">
                <a:solidFill>
                  <a:srgbClr val="FFC000"/>
                </a:solidFill>
              </a:rPr>
              <a:t>Data Cleaning Steps :</a:t>
            </a:r>
          </a:p>
        </p:txBody>
      </p:sp>
      <p:sp>
        <p:nvSpPr>
          <p:cNvPr id="5" name="Content Placeholder 4">
            <a:extLst>
              <a:ext uri="{FF2B5EF4-FFF2-40B4-BE49-F238E27FC236}">
                <a16:creationId xmlns:a16="http://schemas.microsoft.com/office/drawing/2014/main" id="{4D7F0328-9EB7-961A-5A39-76D7516F2C3D}"/>
              </a:ext>
            </a:extLst>
          </p:cNvPr>
          <p:cNvSpPr>
            <a:spLocks noGrp="1"/>
          </p:cNvSpPr>
          <p:nvPr>
            <p:ph idx="1"/>
          </p:nvPr>
        </p:nvSpPr>
        <p:spPr>
          <a:xfrm>
            <a:off x="727182" y="2037249"/>
            <a:ext cx="10353762" cy="4058751"/>
          </a:xfrm>
        </p:spPr>
        <p:txBody>
          <a:bodyPr/>
          <a:lstStyle/>
          <a:p>
            <a:r>
              <a:rPr lang="en-US" sz="2800" dirty="0">
                <a:solidFill>
                  <a:srgbClr val="FFC000"/>
                </a:solidFill>
              </a:rPr>
              <a:t>Firs step We delete the unnecessary columns from the csv file for example :</a:t>
            </a:r>
            <a:br>
              <a:rPr lang="en-US" sz="2800" dirty="0">
                <a:solidFill>
                  <a:srgbClr val="FFC000"/>
                </a:solidFill>
              </a:rPr>
            </a:br>
            <a:r>
              <a:rPr lang="en-US" sz="2800" dirty="0">
                <a:solidFill>
                  <a:srgbClr val="FFC000"/>
                </a:solidFill>
              </a:rPr>
              <a:t>1. unit</a:t>
            </a:r>
            <a:r>
              <a:rPr lang="ar-EG" sz="2800" dirty="0">
                <a:solidFill>
                  <a:srgbClr val="FFC000"/>
                </a:solidFill>
              </a:rPr>
              <a:t> </a:t>
            </a:r>
            <a:r>
              <a:rPr lang="en-US" sz="2800" dirty="0">
                <a:solidFill>
                  <a:srgbClr val="FFC000"/>
                </a:solidFill>
              </a:rPr>
              <a:t>: </a:t>
            </a:r>
            <a:r>
              <a:rPr lang="en-US" altLang="en-US" sz="2800" dirty="0">
                <a:ln>
                  <a:noFill/>
                </a:ln>
                <a:solidFill>
                  <a:srgbClr val="FFC000"/>
                </a:solidFill>
                <a:effectLst/>
                <a:latin typeface="inherit"/>
              </a:rPr>
              <a:t>Unit of measure (often "number of people") .</a:t>
            </a:r>
            <a:br>
              <a:rPr lang="en-US" altLang="en-US" sz="2800" dirty="0">
                <a:ln>
                  <a:noFill/>
                </a:ln>
                <a:solidFill>
                  <a:srgbClr val="FFC000"/>
                </a:solidFill>
                <a:effectLst/>
                <a:latin typeface="inherit"/>
              </a:rPr>
            </a:br>
            <a:br>
              <a:rPr lang="en-US" altLang="en-US" sz="2800" dirty="0">
                <a:ln>
                  <a:noFill/>
                </a:ln>
                <a:solidFill>
                  <a:srgbClr val="FFC000"/>
                </a:solidFill>
                <a:effectLst/>
                <a:latin typeface="inherit"/>
              </a:rPr>
            </a:br>
            <a:r>
              <a:rPr lang="en-US" altLang="en-US" sz="2800" dirty="0">
                <a:ln>
                  <a:noFill/>
                </a:ln>
                <a:solidFill>
                  <a:srgbClr val="FFC000"/>
                </a:solidFill>
                <a:effectLst/>
                <a:latin typeface="inherit"/>
              </a:rPr>
              <a:t>2.</a:t>
            </a:r>
            <a:r>
              <a:rPr lang="en-US" sz="2800" dirty="0">
                <a:solidFill>
                  <a:srgbClr val="FFC000"/>
                </a:solidFill>
              </a:rPr>
              <a:t> </a:t>
            </a:r>
            <a:r>
              <a:rPr lang="en-US" sz="2800" dirty="0" err="1">
                <a:solidFill>
                  <a:srgbClr val="FFC000"/>
                </a:solidFill>
              </a:rPr>
              <a:t>obs_status</a:t>
            </a:r>
            <a:r>
              <a:rPr lang="ar-EG" sz="2800" dirty="0">
                <a:solidFill>
                  <a:srgbClr val="FFC000"/>
                </a:solidFill>
              </a:rPr>
              <a:t> </a:t>
            </a:r>
            <a:r>
              <a:rPr lang="en-US" sz="2800" dirty="0">
                <a:solidFill>
                  <a:srgbClr val="FFC000"/>
                </a:solidFill>
              </a:rPr>
              <a:t>: </a:t>
            </a:r>
            <a:r>
              <a:rPr kumimoji="0" lang="en-US" altLang="en-US" sz="2800" b="0" i="0" u="none" strike="noStrike" cap="none" normalizeH="0" baseline="0" dirty="0">
                <a:ln>
                  <a:noFill/>
                </a:ln>
                <a:solidFill>
                  <a:srgbClr val="FFC000"/>
                </a:solidFill>
                <a:effectLst/>
                <a:latin typeface="inherit"/>
              </a:rPr>
              <a:t>Power (if there is missing or advanced data).</a:t>
            </a:r>
            <a:r>
              <a:rPr kumimoji="0" lang="en-US" altLang="en-US" sz="2800" b="0" i="0" u="none" strike="noStrike" cap="none" normalizeH="0" baseline="0" dirty="0">
                <a:ln>
                  <a:noFill/>
                </a:ln>
                <a:solidFill>
                  <a:srgbClr val="FFC000"/>
                </a:solidFill>
                <a:effectLst/>
              </a:rPr>
              <a:t> </a:t>
            </a:r>
            <a:br>
              <a:rPr kumimoji="0" lang="en-US" altLang="en-US" sz="2800" b="0" i="0" u="none" strike="noStrike" cap="none" normalizeH="0" baseline="0" dirty="0">
                <a:ln>
                  <a:noFill/>
                </a:ln>
                <a:solidFill>
                  <a:srgbClr val="FFC000"/>
                </a:solidFill>
                <a:effectLst/>
              </a:rPr>
            </a:br>
            <a:br>
              <a:rPr kumimoji="0" lang="en-US" altLang="en-US" sz="2800" b="0" i="0" u="none" strike="noStrike" cap="none" normalizeH="0" baseline="0" dirty="0">
                <a:ln>
                  <a:noFill/>
                </a:ln>
                <a:solidFill>
                  <a:srgbClr val="FFC000"/>
                </a:solidFill>
                <a:effectLst/>
              </a:rPr>
            </a:br>
            <a:r>
              <a:rPr kumimoji="0" lang="en-US" altLang="en-US" sz="2800" b="0" i="0" u="none" strike="noStrike" cap="none" normalizeH="0" baseline="0" dirty="0">
                <a:ln>
                  <a:noFill/>
                </a:ln>
                <a:solidFill>
                  <a:srgbClr val="FFC000"/>
                </a:solidFill>
                <a:effectLst/>
              </a:rPr>
              <a:t>3. </a:t>
            </a:r>
            <a:r>
              <a:rPr kumimoji="0" lang="en-US" altLang="en-US" sz="2800" b="0" i="0" u="none" strike="noStrike" cap="none" normalizeH="0" baseline="0" dirty="0">
                <a:ln>
                  <a:noFill/>
                </a:ln>
                <a:solidFill>
                  <a:srgbClr val="FFC000"/>
                </a:solidFill>
                <a:effectLst/>
                <a:latin typeface="inherit"/>
              </a:rPr>
              <a:t>decimal</a:t>
            </a:r>
            <a:r>
              <a:rPr kumimoji="0" lang="en-US" altLang="en-US" sz="2800" b="0" i="0" u="none" strike="noStrike" cap="none" normalizeH="0" baseline="0" dirty="0">
                <a:ln>
                  <a:noFill/>
                </a:ln>
                <a:solidFill>
                  <a:srgbClr val="FFC000"/>
                </a:solidFill>
                <a:effectLst/>
              </a:rPr>
              <a:t> </a:t>
            </a:r>
            <a:r>
              <a:rPr lang="ar-EG" altLang="en-US" sz="2800" dirty="0">
                <a:ln>
                  <a:noFill/>
                </a:ln>
                <a:solidFill>
                  <a:srgbClr val="FFC000"/>
                </a:solidFill>
                <a:effectLst/>
              </a:rPr>
              <a:t> </a:t>
            </a:r>
            <a:r>
              <a:rPr lang="en-US" altLang="en-US" sz="2800" dirty="0">
                <a:ln>
                  <a:noFill/>
                </a:ln>
                <a:solidFill>
                  <a:srgbClr val="FFC000"/>
                </a:solidFill>
                <a:effectLst/>
              </a:rPr>
              <a:t>: </a:t>
            </a:r>
            <a:r>
              <a:rPr kumimoji="0" lang="en-US" altLang="en-US" sz="2800" b="0" i="0" u="none" strike="noStrike" cap="none" normalizeH="0" baseline="0" dirty="0">
                <a:ln>
                  <a:noFill/>
                </a:ln>
                <a:solidFill>
                  <a:srgbClr val="FFC000"/>
                </a:solidFill>
                <a:effectLst/>
                <a:latin typeface="inherit"/>
              </a:rPr>
              <a:t>Number of decimal places (most of the time it is 0 because the population is an integer).</a:t>
            </a:r>
            <a:r>
              <a:rPr kumimoji="0" lang="en-US" altLang="en-US" sz="2800" b="0" i="0" u="none" strike="noStrike" cap="none" normalizeH="0" baseline="0" dirty="0">
                <a:ln>
                  <a:noFill/>
                </a:ln>
                <a:solidFill>
                  <a:srgbClr val="FFC000"/>
                </a:solidFill>
                <a:effectLst/>
              </a:rPr>
              <a:t> </a:t>
            </a:r>
            <a:endParaRPr kumimoji="0" lang="en-US" altLang="en-US" sz="2800" b="0" i="0" u="none" strike="noStrike" cap="none" normalizeH="0" baseline="0" dirty="0">
              <a:ln>
                <a:noFill/>
              </a:ln>
              <a:solidFill>
                <a:srgbClr val="FFC000"/>
              </a:solidFill>
              <a:effectLst/>
              <a:latin typeface="Arial" panose="020B0604020202020204" pitchFamily="34" charset="0"/>
            </a:endParaRPr>
          </a:p>
          <a:p>
            <a:endParaRPr kumimoji="0" lang="en-US" altLang="en-US" sz="2800" b="0" i="0" u="none" strike="noStrike" cap="none" normalizeH="0" baseline="0" dirty="0">
              <a:ln>
                <a:noFill/>
              </a:ln>
              <a:solidFill>
                <a:srgbClr val="FFC000"/>
              </a:solidFill>
              <a:effectLst/>
              <a:latin typeface="Arial" panose="020B0604020202020204" pitchFamily="34" charset="0"/>
            </a:endParaRPr>
          </a:p>
          <a:p>
            <a:endParaRPr kumimoji="0" lang="en-US" altLang="en-US" b="0" i="0" u="none" strike="noStrike" cap="none" normalizeH="0" baseline="0" dirty="0">
              <a:ln>
                <a:noFill/>
              </a:ln>
              <a:solidFill>
                <a:schemeClr val="tx1"/>
              </a:solidFill>
              <a:effectLst/>
              <a:latin typeface="Arial" panose="020B0604020202020204" pitchFamily="34" charset="0"/>
            </a:endParaRPr>
          </a:p>
          <a:p>
            <a:endParaRPr lang="en-US" altLang="en-US" dirty="0">
              <a:ln>
                <a:noFill/>
              </a:ln>
              <a:solidFill>
                <a:srgbClr val="FFC000"/>
              </a:solidFill>
              <a:effectLst/>
              <a:latin typeface="Arial" panose="020B0604020202020204" pitchFamily="34" charset="0"/>
            </a:endParaRPr>
          </a:p>
          <a:p>
            <a:endParaRPr lang="en-US" dirty="0"/>
          </a:p>
        </p:txBody>
      </p:sp>
      <p:sp>
        <p:nvSpPr>
          <p:cNvPr id="6" name="Rectangle 2">
            <a:extLst>
              <a:ext uri="{FF2B5EF4-FFF2-40B4-BE49-F238E27FC236}">
                <a16:creationId xmlns:a16="http://schemas.microsoft.com/office/drawing/2014/main" id="{425651EC-AFFA-EC67-3C8C-EDDE5EAB9561}"/>
              </a:ext>
            </a:extLst>
          </p:cNvPr>
          <p:cNvSpPr>
            <a:spLocks noChangeArrowheads="1"/>
          </p:cNvSpPr>
          <p:nvPr/>
        </p:nvSpPr>
        <p:spPr bwMode="auto">
          <a:xfrm>
            <a:off x="913795" y="2690610"/>
            <a:ext cx="65" cy="251359"/>
          </a:xfrm>
          <a:prstGeom prst="rect">
            <a:avLst/>
          </a:prstGeom>
          <a:solidFill>
            <a:srgbClr val="30313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21781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C822A-58F4-7106-C690-F0089E058990}"/>
              </a:ext>
            </a:extLst>
          </p:cNvPr>
          <p:cNvSpPr>
            <a:spLocks noGrp="1"/>
          </p:cNvSpPr>
          <p:nvPr>
            <p:ph type="title"/>
          </p:nvPr>
        </p:nvSpPr>
        <p:spPr/>
        <p:txBody>
          <a:bodyPr>
            <a:normAutofit fontScale="90000"/>
          </a:bodyPr>
          <a:lstStyle/>
          <a:p>
            <a:r>
              <a:rPr lang="en-US" dirty="0">
                <a:solidFill>
                  <a:srgbClr val="FFC000"/>
                </a:solidFill>
              </a:rPr>
              <a:t>Next </a:t>
            </a:r>
            <a:r>
              <a:rPr lang="en-US" dirty="0" err="1">
                <a:solidFill>
                  <a:srgbClr val="FFC000"/>
                </a:solidFill>
              </a:rPr>
              <a:t>atep</a:t>
            </a:r>
            <a:r>
              <a:rPr lang="en-US" dirty="0">
                <a:solidFill>
                  <a:srgbClr val="FFC000"/>
                </a:solidFill>
              </a:rPr>
              <a:t> we transfer the data to </a:t>
            </a:r>
            <a:r>
              <a:rPr lang="en-US" dirty="0" err="1">
                <a:solidFill>
                  <a:srgbClr val="FFC000"/>
                </a:solidFill>
              </a:rPr>
              <a:t>jupyter</a:t>
            </a:r>
            <a:r>
              <a:rPr lang="en-US" dirty="0">
                <a:solidFill>
                  <a:srgbClr val="FFC000"/>
                </a:solidFill>
              </a:rPr>
              <a:t> notebook to continue the cleaning process:</a:t>
            </a:r>
          </a:p>
        </p:txBody>
      </p:sp>
      <p:pic>
        <p:nvPicPr>
          <p:cNvPr id="5" name="Content Placeholder 4">
            <a:extLst>
              <a:ext uri="{FF2B5EF4-FFF2-40B4-BE49-F238E27FC236}">
                <a16:creationId xmlns:a16="http://schemas.microsoft.com/office/drawing/2014/main" id="{A87418F2-F2D6-8AC6-4A6D-7316EC83AB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65726" y="1731963"/>
            <a:ext cx="7651022" cy="4059237"/>
          </a:xfrm>
        </p:spPr>
      </p:pic>
    </p:spTree>
    <p:extLst>
      <p:ext uri="{BB962C8B-B14F-4D97-AF65-F5344CB8AC3E}">
        <p14:creationId xmlns:p14="http://schemas.microsoft.com/office/powerpoint/2010/main" val="2368758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C28F2-186D-D1C8-02C0-4AB5A804C3BA}"/>
              </a:ext>
            </a:extLst>
          </p:cNvPr>
          <p:cNvSpPr>
            <a:spLocks noGrp="1"/>
          </p:cNvSpPr>
          <p:nvPr>
            <p:ph type="title"/>
          </p:nvPr>
        </p:nvSpPr>
        <p:spPr/>
        <p:txBody>
          <a:bodyPr/>
          <a:lstStyle/>
          <a:p>
            <a:r>
              <a:rPr lang="en-US" dirty="0" err="1">
                <a:solidFill>
                  <a:srgbClr val="FFC000"/>
                </a:solidFill>
              </a:rPr>
              <a:t>Jupyter</a:t>
            </a:r>
            <a:r>
              <a:rPr lang="en-US" dirty="0">
                <a:solidFill>
                  <a:srgbClr val="FFC000"/>
                </a:solidFill>
              </a:rPr>
              <a:t> codes explanation and purposes:</a:t>
            </a:r>
          </a:p>
        </p:txBody>
      </p:sp>
      <p:sp>
        <p:nvSpPr>
          <p:cNvPr id="3" name="Content Placeholder 2">
            <a:extLst>
              <a:ext uri="{FF2B5EF4-FFF2-40B4-BE49-F238E27FC236}">
                <a16:creationId xmlns:a16="http://schemas.microsoft.com/office/drawing/2014/main" id="{F1CCB7FA-C699-7D09-4671-031FB5AC47CD}"/>
              </a:ext>
            </a:extLst>
          </p:cNvPr>
          <p:cNvSpPr>
            <a:spLocks noGrp="1"/>
          </p:cNvSpPr>
          <p:nvPr>
            <p:ph idx="1"/>
          </p:nvPr>
        </p:nvSpPr>
        <p:spPr/>
        <p:txBody>
          <a:bodyPr/>
          <a:lstStyle/>
          <a:p>
            <a:r>
              <a:rPr lang="en-US" dirty="0"/>
              <a:t>1.import pandas as pd</a:t>
            </a:r>
            <a:r>
              <a:rPr lang="ar-EG" dirty="0"/>
              <a:t> </a:t>
            </a:r>
            <a:r>
              <a:rPr lang="en-US" dirty="0"/>
              <a:t>:</a:t>
            </a:r>
            <a:r>
              <a:rPr lang="ar-EG" dirty="0"/>
              <a:t> </a:t>
            </a:r>
            <a:r>
              <a:rPr kumimoji="0" lang="en-US" altLang="en-US" b="0" i="0" u="none" strike="noStrike" cap="none" normalizeH="0" baseline="0" dirty="0">
                <a:ln>
                  <a:noFill/>
                </a:ln>
                <a:solidFill>
                  <a:srgbClr val="FFC000"/>
                </a:solidFill>
                <a:effectLst/>
                <a:latin typeface="Arial" panose="020B0604020202020204" pitchFamily="34" charset="0"/>
              </a:rPr>
              <a:t>This loads the </a:t>
            </a:r>
            <a:r>
              <a:rPr kumimoji="0" lang="en-US" altLang="en-US" b="1" i="0" u="none" strike="noStrike" cap="none" normalizeH="0" baseline="0" dirty="0">
                <a:ln>
                  <a:noFill/>
                </a:ln>
                <a:solidFill>
                  <a:srgbClr val="FFC000"/>
                </a:solidFill>
                <a:effectLst/>
                <a:latin typeface="Arial" panose="020B0604020202020204" pitchFamily="34" charset="0"/>
              </a:rPr>
              <a:t>Pandas</a:t>
            </a:r>
            <a:r>
              <a:rPr kumimoji="0" lang="en-US" altLang="en-US" b="0" i="0" u="none" strike="noStrike" cap="none" normalizeH="0" baseline="0" dirty="0">
                <a:ln>
                  <a:noFill/>
                </a:ln>
                <a:solidFill>
                  <a:srgbClr val="FFC000"/>
                </a:solidFill>
                <a:effectLst/>
                <a:latin typeface="Arial" panose="020B0604020202020204" pitchFamily="34" charset="0"/>
              </a:rPr>
              <a:t> library, which is used for working with structured data (tables, CSVs, Excel, etc.).</a:t>
            </a:r>
            <a:br>
              <a:rPr kumimoji="0" lang="ar-EG" altLang="en-US" b="0" i="0" u="none" strike="noStrike" cap="none" normalizeH="0" baseline="0" dirty="0">
                <a:ln>
                  <a:noFill/>
                </a:ln>
                <a:solidFill>
                  <a:srgbClr val="FFC000"/>
                </a:solidFill>
                <a:effectLst/>
                <a:latin typeface="Arial" panose="020B0604020202020204" pitchFamily="34" charset="0"/>
              </a:rPr>
            </a:br>
            <a:r>
              <a:rPr lang="en-US" dirty="0">
                <a:solidFill>
                  <a:srgbClr val="FFC000"/>
                </a:solidFill>
              </a:rPr>
              <a:t>We give it the nickname </a:t>
            </a:r>
            <a:r>
              <a:rPr lang="ar-EG" dirty="0">
                <a:ln>
                  <a:noFill/>
                </a:ln>
                <a:solidFill>
                  <a:srgbClr val="FFC000"/>
                </a:solidFill>
                <a:effectLst/>
                <a:latin typeface="Arial" panose="020B0604020202020204" pitchFamily="34" charset="0"/>
              </a:rPr>
              <a:t>)</a:t>
            </a:r>
            <a:r>
              <a:rPr lang="en-US" dirty="0">
                <a:ln>
                  <a:noFill/>
                </a:ln>
                <a:solidFill>
                  <a:srgbClr val="FFC000"/>
                </a:solidFill>
                <a:effectLst/>
                <a:latin typeface="Arial" panose="020B0604020202020204" pitchFamily="34" charset="0"/>
              </a:rPr>
              <a:t>pd) </a:t>
            </a:r>
            <a:r>
              <a:rPr lang="en-US" dirty="0">
                <a:solidFill>
                  <a:srgbClr val="FFC000"/>
                </a:solidFill>
              </a:rPr>
              <a:t>so we can use it quickly later</a:t>
            </a:r>
            <a:r>
              <a:rPr lang="en-US" dirty="0"/>
              <a:t>.</a:t>
            </a:r>
            <a:br>
              <a:rPr lang="en-US" dirty="0"/>
            </a:br>
            <a:r>
              <a:rPr lang="en-US" dirty="0"/>
              <a:t>2. import </a:t>
            </a:r>
            <a:r>
              <a:rPr lang="en-US" dirty="0" err="1"/>
              <a:t>matplotlib.pyplot</a:t>
            </a:r>
            <a:r>
              <a:rPr lang="en-US" dirty="0"/>
              <a:t> as </a:t>
            </a:r>
            <a:r>
              <a:rPr lang="en-US" dirty="0" err="1"/>
              <a:t>plt</a:t>
            </a:r>
            <a:r>
              <a:rPr lang="en-US" dirty="0"/>
              <a:t> : </a:t>
            </a:r>
            <a:r>
              <a:rPr lang="en-US" dirty="0">
                <a:solidFill>
                  <a:srgbClr val="FFC000"/>
                </a:solidFill>
              </a:rPr>
              <a:t>This loads </a:t>
            </a:r>
            <a:r>
              <a:rPr lang="en-US" b="1" dirty="0">
                <a:solidFill>
                  <a:srgbClr val="FFC000"/>
                </a:solidFill>
              </a:rPr>
              <a:t>Matplotlib’s </a:t>
            </a:r>
            <a:r>
              <a:rPr lang="en-US" b="1" dirty="0" err="1">
                <a:solidFill>
                  <a:srgbClr val="FFC000"/>
                </a:solidFill>
              </a:rPr>
              <a:t>pyplot</a:t>
            </a:r>
            <a:r>
              <a:rPr lang="en-US" b="1" dirty="0">
                <a:solidFill>
                  <a:srgbClr val="FFC000"/>
                </a:solidFill>
              </a:rPr>
              <a:t> module</a:t>
            </a:r>
            <a:r>
              <a:rPr lang="en-US" dirty="0">
                <a:solidFill>
                  <a:srgbClr val="FFC000"/>
                </a:solidFill>
              </a:rPr>
              <a:t>, which is used for making plots and charts.</a:t>
            </a:r>
            <a:br>
              <a:rPr lang="en-US" dirty="0">
                <a:solidFill>
                  <a:srgbClr val="FFC000"/>
                </a:solidFill>
              </a:rPr>
            </a:br>
            <a:r>
              <a:rPr lang="en-US" dirty="0">
                <a:solidFill>
                  <a:srgbClr val="FFC000"/>
                </a:solidFill>
              </a:rPr>
              <a:t>We give it the nickname (</a:t>
            </a:r>
            <a:r>
              <a:rPr lang="en-US" dirty="0" err="1">
                <a:solidFill>
                  <a:srgbClr val="FFC000"/>
                </a:solidFill>
              </a:rPr>
              <a:t>plt</a:t>
            </a:r>
            <a:r>
              <a:rPr lang="en-US" dirty="0">
                <a:solidFill>
                  <a:srgbClr val="FFC000"/>
                </a:solidFill>
              </a:rPr>
              <a:t>) so we can call plotting functions easily.</a:t>
            </a:r>
            <a:br>
              <a:rPr lang="en-US" dirty="0">
                <a:solidFill>
                  <a:srgbClr val="FFC000"/>
                </a:solidFill>
              </a:rPr>
            </a:br>
            <a:r>
              <a:rPr lang="en-US" dirty="0"/>
              <a:t>3. import seaborn as </a:t>
            </a:r>
            <a:r>
              <a:rPr lang="en-US" dirty="0" err="1"/>
              <a:t>sns</a:t>
            </a:r>
            <a:r>
              <a:rPr lang="en-US" dirty="0"/>
              <a:t> : </a:t>
            </a:r>
            <a:r>
              <a:rPr kumimoji="0" lang="en-US" altLang="en-US" sz="2000" b="0" i="0" u="none" strike="noStrike" cap="none" normalizeH="0" baseline="0" dirty="0">
                <a:ln>
                  <a:noFill/>
                </a:ln>
                <a:solidFill>
                  <a:srgbClr val="FFC000"/>
                </a:solidFill>
                <a:effectLst/>
                <a:latin typeface="Arial" panose="020B0604020202020204" pitchFamily="34" charset="0"/>
              </a:rPr>
              <a:t>This loads </a:t>
            </a:r>
            <a:r>
              <a:rPr kumimoji="0" lang="en-US" altLang="en-US" sz="2000" b="1" i="0" u="none" strike="noStrike" cap="none" normalizeH="0" baseline="0" dirty="0">
                <a:ln>
                  <a:noFill/>
                </a:ln>
                <a:solidFill>
                  <a:srgbClr val="FFC000"/>
                </a:solidFill>
                <a:effectLst/>
                <a:latin typeface="Arial" panose="020B0604020202020204" pitchFamily="34" charset="0"/>
              </a:rPr>
              <a:t>Seaborn</a:t>
            </a:r>
            <a:r>
              <a:rPr kumimoji="0" lang="en-US" altLang="en-US" sz="2000" b="0" i="0" u="none" strike="noStrike" cap="none" normalizeH="0" baseline="0" dirty="0">
                <a:ln>
                  <a:noFill/>
                </a:ln>
                <a:solidFill>
                  <a:srgbClr val="FFC000"/>
                </a:solidFill>
                <a:effectLst/>
                <a:latin typeface="Arial" panose="020B0604020202020204" pitchFamily="34" charset="0"/>
              </a:rPr>
              <a:t>, a visualization library built on top of Matplotlib.</a:t>
            </a:r>
            <a:br>
              <a:rPr kumimoji="0" lang="en-US" altLang="en-US" sz="2000" b="0" i="0" u="none" strike="noStrike" cap="none" normalizeH="0" baseline="0" dirty="0">
                <a:ln>
                  <a:noFill/>
                </a:ln>
                <a:solidFill>
                  <a:srgbClr val="FFC000"/>
                </a:solidFill>
                <a:effectLst/>
                <a:latin typeface="Arial" panose="020B0604020202020204" pitchFamily="34" charset="0"/>
              </a:rPr>
            </a:br>
            <a:r>
              <a:rPr kumimoji="0" lang="en-US" altLang="en-US" sz="2000" b="0" i="0" u="none" strike="noStrike" cap="none" normalizeH="0" baseline="0" dirty="0">
                <a:ln>
                  <a:noFill/>
                </a:ln>
                <a:solidFill>
                  <a:srgbClr val="FFC000"/>
                </a:solidFill>
                <a:effectLst/>
                <a:latin typeface="Arial" panose="020B0604020202020204" pitchFamily="34" charset="0"/>
              </a:rPr>
              <a:t>It makes charts more beautiful and easier to create.</a:t>
            </a:r>
            <a:br>
              <a:rPr kumimoji="0" lang="en-US" altLang="en-US" sz="2000" b="0" i="0" u="none" strike="noStrike" cap="none" normalizeH="0" baseline="0" dirty="0">
                <a:ln>
                  <a:noFill/>
                </a:ln>
                <a:solidFill>
                  <a:srgbClr val="FFC000"/>
                </a:solidFill>
                <a:effectLst/>
                <a:latin typeface="Arial" panose="020B0604020202020204" pitchFamily="34" charset="0"/>
              </a:rPr>
            </a:br>
            <a:r>
              <a:rPr lang="en-US" altLang="en-US" dirty="0">
                <a:ln>
                  <a:noFill/>
                </a:ln>
                <a:solidFill>
                  <a:schemeClr val="tx2">
                    <a:lumMod val="90000"/>
                  </a:schemeClr>
                </a:solidFill>
                <a:effectLst/>
                <a:latin typeface="Arial" panose="020B0604020202020204" pitchFamily="34" charset="0"/>
              </a:rPr>
              <a:t>4.</a:t>
            </a:r>
            <a:r>
              <a:rPr lang="en-US" dirty="0">
                <a:solidFill>
                  <a:schemeClr val="tx2">
                    <a:lumMod val="90000"/>
                  </a:schemeClr>
                </a:solidFill>
              </a:rPr>
              <a:t> </a:t>
            </a:r>
            <a:r>
              <a:rPr lang="en-US" dirty="0"/>
              <a:t>data = </a:t>
            </a:r>
            <a:r>
              <a:rPr lang="en-US" dirty="0" err="1"/>
              <a:t>pd.read_csv</a:t>
            </a:r>
            <a:r>
              <a:rPr lang="en-US" dirty="0"/>
              <a:t>("wb_population_total.csv") : </a:t>
            </a:r>
            <a:r>
              <a:rPr lang="en-US" dirty="0">
                <a:solidFill>
                  <a:srgbClr val="FFC000"/>
                </a:solidFill>
              </a:rPr>
              <a:t>This reads the CSV file (wb_population_total.csv) into a </a:t>
            </a:r>
            <a:r>
              <a:rPr lang="en-US" b="1" dirty="0">
                <a:solidFill>
                  <a:srgbClr val="FFC000"/>
                </a:solidFill>
              </a:rPr>
              <a:t>Pandas </a:t>
            </a:r>
            <a:r>
              <a:rPr lang="en-US" b="1" dirty="0" err="1">
                <a:solidFill>
                  <a:srgbClr val="FFC000"/>
                </a:solidFill>
              </a:rPr>
              <a:t>DataFrame</a:t>
            </a:r>
            <a:r>
              <a:rPr lang="en-US" dirty="0">
                <a:solidFill>
                  <a:srgbClr val="FFC000"/>
                </a:solidFill>
              </a:rPr>
              <a:t> called (data).</a:t>
            </a:r>
            <a:br>
              <a:rPr lang="en-US" dirty="0">
                <a:solidFill>
                  <a:srgbClr val="FFC000"/>
                </a:solidFill>
              </a:rPr>
            </a:br>
            <a:r>
              <a:rPr lang="en-US" dirty="0">
                <a:solidFill>
                  <a:srgbClr val="FFC000"/>
                </a:solidFill>
              </a:rPr>
              <a:t>A </a:t>
            </a:r>
            <a:r>
              <a:rPr lang="en-US" dirty="0" err="1">
                <a:solidFill>
                  <a:srgbClr val="FFC000"/>
                </a:solidFill>
              </a:rPr>
              <a:t>DataFrame</a:t>
            </a:r>
            <a:r>
              <a:rPr lang="en-US" dirty="0">
                <a:solidFill>
                  <a:srgbClr val="FFC000"/>
                </a:solidFill>
              </a:rPr>
              <a:t> is like an Excel sheet in Python (rows &amp; columns).</a:t>
            </a:r>
            <a:endParaRPr kumimoji="0" lang="en-US" altLang="en-US" sz="2000" b="0" i="0" u="none" strike="noStrike" cap="none" normalizeH="0" baseline="0" dirty="0">
              <a:ln>
                <a:noFill/>
              </a:ln>
              <a:solidFill>
                <a:srgbClr val="FFC000"/>
              </a:solidFill>
              <a:effectLst/>
              <a:latin typeface="Arial" panose="020B0604020202020204" pitchFamily="34" charset="0"/>
            </a:endParaRPr>
          </a:p>
          <a:p>
            <a:endParaRPr lang="en-US" dirty="0">
              <a:solidFill>
                <a:srgbClr val="FFC000"/>
              </a:solidFill>
            </a:endParaRPr>
          </a:p>
        </p:txBody>
      </p:sp>
    </p:spTree>
    <p:extLst>
      <p:ext uri="{BB962C8B-B14F-4D97-AF65-F5344CB8AC3E}">
        <p14:creationId xmlns:p14="http://schemas.microsoft.com/office/powerpoint/2010/main" val="2551886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B071C1-DD4B-B5B2-AB59-6C22CFDAE071}"/>
              </a:ext>
            </a:extLst>
          </p:cNvPr>
          <p:cNvSpPr>
            <a:spLocks noGrp="1"/>
          </p:cNvSpPr>
          <p:nvPr>
            <p:ph idx="1"/>
          </p:nvPr>
        </p:nvSpPr>
        <p:spPr>
          <a:xfrm>
            <a:off x="267475" y="556792"/>
            <a:ext cx="10353762" cy="4058751"/>
          </a:xfrm>
        </p:spPr>
        <p:txBody>
          <a:bodyPr/>
          <a:lstStyle/>
          <a:p>
            <a:pPr>
              <a:buFont typeface="Arial" panose="020B0604020202020204" pitchFamily="34" charset="0"/>
              <a:buChar char="•"/>
            </a:pPr>
            <a:r>
              <a:rPr lang="en-US" dirty="0"/>
              <a:t>5. </a:t>
            </a:r>
            <a:r>
              <a:rPr lang="en-US" dirty="0" err="1"/>
              <a:t>data.head</a:t>
            </a:r>
            <a:r>
              <a:rPr lang="en-US" dirty="0"/>
              <a:t>() : </a:t>
            </a:r>
            <a:r>
              <a:rPr lang="en-US" b="1" dirty="0">
                <a:solidFill>
                  <a:srgbClr val="FFC000"/>
                </a:solidFill>
              </a:rPr>
              <a:t>. </a:t>
            </a:r>
            <a:r>
              <a:rPr lang="en-US" dirty="0">
                <a:solidFill>
                  <a:srgbClr val="FFC000"/>
                </a:solidFill>
              </a:rPr>
              <a:t>Displays the </a:t>
            </a:r>
            <a:r>
              <a:rPr lang="en-US" b="1" dirty="0">
                <a:solidFill>
                  <a:srgbClr val="FFC000"/>
                </a:solidFill>
              </a:rPr>
              <a:t>first 5 rows</a:t>
            </a:r>
            <a:r>
              <a:rPr lang="en-US" dirty="0">
                <a:solidFill>
                  <a:srgbClr val="FFC000"/>
                </a:solidFill>
              </a:rPr>
              <a:t> of the dataset.</a:t>
            </a:r>
          </a:p>
          <a:p>
            <a:pPr>
              <a:buFont typeface="Arial" panose="020B0604020202020204" pitchFamily="34" charset="0"/>
              <a:buChar char="•"/>
            </a:pPr>
            <a:r>
              <a:rPr lang="en-US" dirty="0">
                <a:solidFill>
                  <a:srgbClr val="FFC000"/>
                </a:solidFill>
              </a:rPr>
              <a:t>Useful to take a quick look at the data’s structure and values.</a:t>
            </a:r>
          </a:p>
          <a:p>
            <a:pPr>
              <a:buFont typeface="Arial" panose="020B0604020202020204" pitchFamily="34" charset="0"/>
              <a:buChar char="•"/>
            </a:pPr>
            <a:r>
              <a:rPr lang="en-US" dirty="0"/>
              <a:t>6. data.info() : </a:t>
            </a:r>
            <a:r>
              <a:rPr lang="en-US" b="1" dirty="0"/>
              <a:t>.</a:t>
            </a:r>
            <a:r>
              <a:rPr lang="en-US" dirty="0"/>
              <a:t> Shows a </a:t>
            </a:r>
            <a:r>
              <a:rPr lang="en-US" b="1" dirty="0"/>
              <a:t>summary of the dataset</a:t>
            </a:r>
            <a:r>
              <a:rPr lang="en-US" dirty="0"/>
              <a:t>:</a:t>
            </a:r>
          </a:p>
          <a:p>
            <a:pPr marL="742950" lvl="1" indent="-285750">
              <a:buFont typeface="Arial" panose="020B0604020202020204" pitchFamily="34" charset="0"/>
              <a:buChar char="•"/>
            </a:pPr>
            <a:r>
              <a:rPr lang="en-US" dirty="0"/>
              <a:t>Number of rows and columns.</a:t>
            </a:r>
          </a:p>
          <a:p>
            <a:pPr marL="742950" lvl="1" indent="-285750">
              <a:buFont typeface="Arial" panose="020B0604020202020204" pitchFamily="34" charset="0"/>
              <a:buChar char="•"/>
            </a:pPr>
            <a:r>
              <a:rPr lang="en-US" dirty="0"/>
              <a:t>Column names.</a:t>
            </a:r>
          </a:p>
          <a:p>
            <a:pPr marL="742950" lvl="1" indent="-285750">
              <a:buFont typeface="Arial" panose="020B0604020202020204" pitchFamily="34" charset="0"/>
              <a:buChar char="•"/>
            </a:pPr>
            <a:r>
              <a:rPr lang="en-US" dirty="0"/>
              <a:t>Data types (int, float, object, etc.).</a:t>
            </a:r>
          </a:p>
          <a:p>
            <a:pPr marL="742950" lvl="1" indent="-285750">
              <a:buFont typeface="Arial" panose="020B0604020202020204" pitchFamily="34" charset="0"/>
              <a:buChar char="•"/>
            </a:pPr>
            <a:r>
              <a:rPr lang="en-US" dirty="0"/>
              <a:t>How many missing values are in each column.</a:t>
            </a:r>
          </a:p>
          <a:p>
            <a:endParaRPr lang="en-US" dirty="0"/>
          </a:p>
        </p:txBody>
      </p:sp>
      <p:pic>
        <p:nvPicPr>
          <p:cNvPr id="7" name="Picture 6" descr="A screenshot of a computer&#10;&#10;AI-generated content may be incorrect.">
            <a:extLst>
              <a:ext uri="{FF2B5EF4-FFF2-40B4-BE49-F238E27FC236}">
                <a16:creationId xmlns:a16="http://schemas.microsoft.com/office/drawing/2014/main" id="{519C7EA2-1276-7CBC-11F8-641E562C21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47658" y="1922106"/>
            <a:ext cx="6298162" cy="4814596"/>
          </a:xfrm>
          <a:prstGeom prst="rect">
            <a:avLst/>
          </a:prstGeom>
        </p:spPr>
      </p:pic>
    </p:spTree>
    <p:extLst>
      <p:ext uri="{BB962C8B-B14F-4D97-AF65-F5344CB8AC3E}">
        <p14:creationId xmlns:p14="http://schemas.microsoft.com/office/powerpoint/2010/main" val="2805260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E920F-0787-2CA5-D141-98C31BFE536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E0AB89A-C8C4-80F6-5227-12DBCC0CCB85}"/>
              </a:ext>
            </a:extLst>
          </p:cNvPr>
          <p:cNvSpPr>
            <a:spLocks noGrp="1"/>
          </p:cNvSpPr>
          <p:nvPr>
            <p:ph idx="1"/>
          </p:nvPr>
        </p:nvSpPr>
        <p:spPr/>
        <p:txBody>
          <a:bodyPr/>
          <a:lstStyle/>
          <a:p>
            <a:r>
              <a:rPr lang="ar-EG" dirty="0"/>
              <a:t>7</a:t>
            </a:r>
            <a:r>
              <a:rPr lang="en-US" dirty="0"/>
              <a:t>. </a:t>
            </a:r>
            <a:r>
              <a:rPr lang="en-US" dirty="0" err="1"/>
              <a:t>data.describe</a:t>
            </a:r>
            <a:r>
              <a:rPr lang="en-US" dirty="0"/>
              <a:t>() : </a:t>
            </a:r>
            <a:r>
              <a:rPr lang="en-US" dirty="0">
                <a:solidFill>
                  <a:srgbClr val="FFC000"/>
                </a:solidFill>
              </a:rPr>
              <a:t>Generates </a:t>
            </a:r>
            <a:r>
              <a:rPr lang="en-US" b="1" dirty="0">
                <a:solidFill>
                  <a:srgbClr val="FFC000"/>
                </a:solidFill>
              </a:rPr>
              <a:t>summary statistics</a:t>
            </a:r>
            <a:r>
              <a:rPr lang="en-US" dirty="0">
                <a:solidFill>
                  <a:srgbClr val="FFC000"/>
                </a:solidFill>
              </a:rPr>
              <a:t> for numeric columns (mean, min, max, quartiles, etc.).</a:t>
            </a:r>
            <a:br>
              <a:rPr lang="en-US" dirty="0"/>
            </a:br>
            <a:r>
              <a:rPr lang="en-US" dirty="0"/>
              <a:t>8. </a:t>
            </a:r>
            <a:r>
              <a:rPr lang="en-US" dirty="0" err="1"/>
              <a:t>data.columns</a:t>
            </a:r>
            <a:r>
              <a:rPr lang="en-US" dirty="0"/>
              <a:t> : </a:t>
            </a:r>
            <a:r>
              <a:rPr lang="en-US" dirty="0">
                <a:solidFill>
                  <a:srgbClr val="FFC000"/>
                </a:solidFill>
              </a:rPr>
              <a:t>Displays the list of </a:t>
            </a:r>
            <a:r>
              <a:rPr lang="en-US" b="1" dirty="0">
                <a:solidFill>
                  <a:srgbClr val="FFC000"/>
                </a:solidFill>
              </a:rPr>
              <a:t>column names</a:t>
            </a:r>
            <a:r>
              <a:rPr lang="en-US" dirty="0">
                <a:solidFill>
                  <a:srgbClr val="FFC000"/>
                </a:solidFill>
              </a:rPr>
              <a:t> in the </a:t>
            </a:r>
            <a:r>
              <a:rPr lang="en-US" dirty="0" err="1">
                <a:solidFill>
                  <a:srgbClr val="FFC000"/>
                </a:solidFill>
              </a:rPr>
              <a:t>DataFrame</a:t>
            </a:r>
            <a:r>
              <a:rPr lang="en-US" dirty="0">
                <a:solidFill>
                  <a:srgbClr val="FFC000"/>
                </a:solidFill>
              </a:rPr>
              <a:t>.</a:t>
            </a:r>
            <a:br>
              <a:rPr lang="en-US" dirty="0">
                <a:solidFill>
                  <a:srgbClr val="FFC000"/>
                </a:solidFill>
              </a:rPr>
            </a:br>
            <a:r>
              <a:rPr lang="en-US" dirty="0"/>
              <a:t>9. print("Shape:", </a:t>
            </a:r>
            <a:r>
              <a:rPr lang="en-US" dirty="0" err="1"/>
              <a:t>data.shape</a:t>
            </a:r>
            <a:r>
              <a:rPr lang="en-US" dirty="0"/>
              <a:t>) : </a:t>
            </a:r>
            <a:r>
              <a:rPr lang="en-US" dirty="0">
                <a:solidFill>
                  <a:srgbClr val="FFC000"/>
                </a:solidFill>
              </a:rPr>
              <a:t>Prints the </a:t>
            </a:r>
            <a:r>
              <a:rPr lang="en-US" b="1" dirty="0">
                <a:solidFill>
                  <a:srgbClr val="FFC000"/>
                </a:solidFill>
              </a:rPr>
              <a:t>shape</a:t>
            </a:r>
            <a:r>
              <a:rPr lang="en-US" dirty="0">
                <a:solidFill>
                  <a:srgbClr val="FFC000"/>
                </a:solidFill>
              </a:rPr>
              <a:t> of the dataset → number of rows and columns (rows, columns).</a:t>
            </a:r>
            <a:br>
              <a:rPr lang="en-US" dirty="0"/>
            </a:br>
            <a:r>
              <a:rPr lang="en-US" dirty="0"/>
              <a:t>10. </a:t>
            </a:r>
            <a:r>
              <a:rPr lang="en-US" dirty="0" err="1"/>
              <a:t>data.isnull</a:t>
            </a:r>
            <a:r>
              <a:rPr lang="en-US" dirty="0"/>
              <a:t>().sum() : </a:t>
            </a:r>
            <a:r>
              <a:rPr lang="en-US" dirty="0">
                <a:solidFill>
                  <a:srgbClr val="FFC000"/>
                </a:solidFill>
              </a:rPr>
              <a:t>Counts how many </a:t>
            </a:r>
            <a:r>
              <a:rPr lang="en-US" b="1" dirty="0">
                <a:solidFill>
                  <a:srgbClr val="FFC000"/>
                </a:solidFill>
              </a:rPr>
              <a:t>missing values (</a:t>
            </a:r>
            <a:r>
              <a:rPr lang="en-US" b="1" dirty="0" err="1">
                <a:solidFill>
                  <a:srgbClr val="FFC000"/>
                </a:solidFill>
              </a:rPr>
              <a:t>NaN</a:t>
            </a:r>
            <a:r>
              <a:rPr lang="en-US" b="1" dirty="0">
                <a:solidFill>
                  <a:srgbClr val="FFC000"/>
                </a:solidFill>
              </a:rPr>
              <a:t>)</a:t>
            </a:r>
            <a:r>
              <a:rPr lang="en-US" dirty="0">
                <a:solidFill>
                  <a:srgbClr val="FFC000"/>
                </a:solidFill>
              </a:rPr>
              <a:t> are in each column.</a:t>
            </a:r>
            <a:br>
              <a:rPr lang="en-US" dirty="0">
                <a:solidFill>
                  <a:srgbClr val="FFC000"/>
                </a:solidFill>
              </a:rPr>
            </a:br>
            <a:r>
              <a:rPr lang="en-US" dirty="0">
                <a:solidFill>
                  <a:schemeClr val="accent3">
                    <a:lumMod val="60000"/>
                    <a:lumOff val="40000"/>
                  </a:schemeClr>
                </a:solidFill>
              </a:rPr>
              <a:t>11. </a:t>
            </a:r>
            <a:r>
              <a:rPr kumimoji="0" lang="en-US" altLang="en-US" sz="2000" i="0" u="none" strike="noStrike" cap="none" normalizeH="0" baseline="0" dirty="0">
                <a:ln>
                  <a:noFill/>
                </a:ln>
                <a:solidFill>
                  <a:schemeClr val="accent3">
                    <a:lumMod val="60000"/>
                    <a:lumOff val="40000"/>
                  </a:schemeClr>
                </a:solidFill>
                <a:effectLst/>
                <a:latin typeface="Arial Unicode MS"/>
              </a:rPr>
              <a:t>data = </a:t>
            </a:r>
            <a:r>
              <a:rPr kumimoji="0" lang="en-US" altLang="en-US" sz="2000" i="0" u="none" strike="noStrike" cap="none" normalizeH="0" baseline="0" dirty="0" err="1">
                <a:ln>
                  <a:noFill/>
                </a:ln>
                <a:solidFill>
                  <a:schemeClr val="accent3">
                    <a:lumMod val="60000"/>
                    <a:lumOff val="40000"/>
                  </a:schemeClr>
                </a:solidFill>
                <a:effectLst/>
                <a:latin typeface="Arial Unicode MS"/>
              </a:rPr>
              <a:t>data.rename</a:t>
            </a:r>
            <a:r>
              <a:rPr kumimoji="0" lang="en-US" altLang="en-US" sz="2000" i="0" u="none" strike="noStrike" cap="none" normalizeH="0" baseline="0" dirty="0">
                <a:ln>
                  <a:noFill/>
                </a:ln>
                <a:solidFill>
                  <a:schemeClr val="accent3">
                    <a:lumMod val="60000"/>
                    <a:lumOff val="40000"/>
                  </a:schemeClr>
                </a:solidFill>
                <a:effectLst/>
                <a:latin typeface="Arial Unicode MS"/>
              </a:rPr>
              <a:t>(columns={ ... }) : </a:t>
            </a:r>
            <a:br>
              <a:rPr kumimoji="0" lang="en-US" altLang="en-US" sz="2000" i="0" u="none" strike="noStrike" cap="none" normalizeH="0" baseline="0" dirty="0">
                <a:ln>
                  <a:noFill/>
                </a:ln>
                <a:solidFill>
                  <a:schemeClr val="accent3">
                    <a:lumMod val="60000"/>
                    <a:lumOff val="40000"/>
                  </a:schemeClr>
                </a:solidFill>
                <a:effectLst/>
                <a:latin typeface="Arial Unicode MS"/>
              </a:rPr>
            </a:br>
            <a:r>
              <a:rPr lang="en-US" sz="1800" dirty="0">
                <a:solidFill>
                  <a:srgbClr val="FFC000"/>
                </a:solidFill>
              </a:rPr>
              <a:t>Renames specific columns to </a:t>
            </a:r>
            <a:r>
              <a:rPr lang="en-US" sz="1800" b="1" dirty="0">
                <a:solidFill>
                  <a:srgbClr val="FFC000"/>
                </a:solidFill>
              </a:rPr>
              <a:t>more readable names</a:t>
            </a:r>
            <a:r>
              <a:rPr lang="en-US" sz="1800" dirty="0">
                <a:solidFill>
                  <a:srgbClr val="FFC000"/>
                </a:solidFill>
              </a:rPr>
              <a:t>: </a:t>
            </a:r>
            <a:r>
              <a:rPr lang="en-US" sz="1800" dirty="0"/>
              <a:t>→ </a:t>
            </a:r>
            <a:r>
              <a:rPr lang="en-US" sz="1800" dirty="0">
                <a:solidFill>
                  <a:srgbClr val="FFC000"/>
                </a:solidFill>
              </a:rPr>
              <a:t>E.X: (</a:t>
            </a:r>
            <a:r>
              <a:rPr lang="en-US" sz="1600" dirty="0"/>
              <a:t>date </a:t>
            </a:r>
            <a:r>
              <a:rPr lang="en-US" sz="1600" dirty="0">
                <a:solidFill>
                  <a:srgbClr val="FFC000"/>
                </a:solidFill>
              </a:rPr>
              <a:t>) </a:t>
            </a:r>
            <a:r>
              <a:rPr lang="en-US" sz="1600" dirty="0"/>
              <a:t>→ </a:t>
            </a:r>
            <a:r>
              <a:rPr lang="en-US" sz="1600" dirty="0">
                <a:solidFill>
                  <a:srgbClr val="FFC000"/>
                </a:solidFill>
              </a:rPr>
              <a:t>(</a:t>
            </a:r>
            <a:r>
              <a:rPr lang="en-US" sz="1600" dirty="0"/>
              <a:t>Year</a:t>
            </a:r>
            <a:r>
              <a:rPr lang="en-US" sz="1600" dirty="0">
                <a:solidFill>
                  <a:srgbClr val="FFC000"/>
                </a:solidFill>
              </a:rPr>
              <a:t>)</a:t>
            </a:r>
            <a:br>
              <a:rPr lang="en-US" sz="1600" dirty="0">
                <a:solidFill>
                  <a:srgbClr val="FFC000"/>
                </a:solidFill>
              </a:rPr>
            </a:br>
            <a:r>
              <a:rPr lang="en-US" sz="1800" dirty="0">
                <a:solidFill>
                  <a:srgbClr val="FFC000"/>
                </a:solidFill>
              </a:rPr>
              <a:t>(</a:t>
            </a:r>
            <a:r>
              <a:rPr kumimoji="0" lang="en-US" altLang="en-US" sz="1800" b="0" i="0" u="none" strike="noStrike" cap="none" normalizeH="0" baseline="0" dirty="0">
                <a:ln>
                  <a:noFill/>
                </a:ln>
                <a:solidFill>
                  <a:schemeClr val="accent3">
                    <a:lumMod val="60000"/>
                    <a:lumOff val="40000"/>
                  </a:schemeClr>
                </a:solidFill>
                <a:effectLst/>
                <a:latin typeface="Arial Unicode MS"/>
              </a:rPr>
              <a:t>value</a:t>
            </a:r>
            <a:r>
              <a:rPr kumimoji="0" lang="en-US" altLang="en-US" sz="1800" b="0" i="0" u="none" strike="noStrike" cap="none" normalizeH="0" baseline="0" dirty="0">
                <a:ln>
                  <a:noFill/>
                </a:ln>
                <a:solidFill>
                  <a:srgbClr val="FFC000"/>
                </a:solidFill>
                <a:effectLst/>
                <a:latin typeface="Arial Unicode MS"/>
              </a:rPr>
              <a:t>)</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accent3">
                    <a:lumMod val="60000"/>
                    <a:lumOff val="40000"/>
                  </a:schemeClr>
                </a:solidFill>
                <a:effectLst/>
              </a:rPr>
              <a:t>→</a:t>
            </a:r>
            <a:r>
              <a:rPr kumimoji="0" lang="en-US" altLang="en-US" sz="1800" b="0" i="0" u="none" strike="noStrike" cap="none" normalizeH="0" baseline="0" dirty="0">
                <a:ln>
                  <a:noFill/>
                </a:ln>
                <a:solidFill>
                  <a:srgbClr val="FFC000"/>
                </a:solidFill>
                <a:effectLst/>
              </a:rPr>
              <a:t>(</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accent3">
                    <a:lumMod val="60000"/>
                    <a:lumOff val="40000"/>
                  </a:schemeClr>
                </a:solidFill>
                <a:effectLst/>
                <a:latin typeface="Arial Unicode MS"/>
              </a:rPr>
              <a:t>Population</a:t>
            </a:r>
            <a:r>
              <a:rPr kumimoji="0" lang="en-US" altLang="en-US" sz="1800" b="0" i="0" u="none" strike="noStrike" cap="none" normalizeH="0" baseline="0" dirty="0">
                <a:ln>
                  <a:noFill/>
                </a:ln>
                <a:solidFill>
                  <a:srgbClr val="FFC000"/>
                </a:solidFill>
                <a:effectLst/>
                <a:latin typeface="Arial Unicode MS"/>
              </a:rPr>
              <a:t>)</a:t>
            </a:r>
            <a:endParaRPr kumimoji="0" lang="en-US" altLang="en-US" sz="1800" b="0" i="0" u="none" strike="noStrike" cap="none" normalizeH="0" baseline="0" dirty="0">
              <a:ln>
                <a:noFill/>
              </a:ln>
              <a:solidFill>
                <a:srgbClr val="FFC000"/>
              </a:solidFill>
              <a:effectLst/>
            </a:endParaRPr>
          </a:p>
          <a:p>
            <a:r>
              <a:rPr kumimoji="0" lang="en-US" altLang="en-US" sz="1800" b="0" i="0" u="none" strike="noStrike" cap="none" normalizeH="0" baseline="0" dirty="0">
                <a:ln>
                  <a:noFill/>
                </a:ln>
                <a:solidFill>
                  <a:srgbClr val="FFC000"/>
                </a:solidFill>
                <a:effectLst/>
                <a:latin typeface="Arial Unicode MS"/>
              </a:rPr>
              <a:t>(</a:t>
            </a:r>
            <a:r>
              <a:rPr kumimoji="0" lang="en-US" altLang="en-US" sz="1800" b="0" i="0" u="none" strike="noStrike" cap="none" normalizeH="0" baseline="0" dirty="0" err="1">
                <a:ln>
                  <a:noFill/>
                </a:ln>
                <a:solidFill>
                  <a:schemeClr val="accent3">
                    <a:lumMod val="60000"/>
                    <a:lumOff val="40000"/>
                  </a:schemeClr>
                </a:solidFill>
                <a:effectLst/>
                <a:latin typeface="Arial Unicode MS"/>
              </a:rPr>
              <a:t>obs_status</a:t>
            </a:r>
            <a:r>
              <a:rPr kumimoji="0" lang="en-US" altLang="en-US" sz="1800" b="0" i="0" u="none" strike="noStrike" cap="none" normalizeH="0" baseline="0" dirty="0">
                <a:ln>
                  <a:noFill/>
                </a:ln>
                <a:solidFill>
                  <a:schemeClr val="accent3">
                    <a:lumMod val="60000"/>
                    <a:lumOff val="40000"/>
                  </a:schemeClr>
                </a:solidFill>
                <a:effectLst/>
              </a:rPr>
              <a:t> </a:t>
            </a:r>
            <a:r>
              <a:rPr kumimoji="0" lang="en-US" altLang="en-US" sz="1800" b="0" i="0" u="none" strike="noStrike" cap="none" normalizeH="0" baseline="0" dirty="0">
                <a:ln>
                  <a:noFill/>
                </a:ln>
                <a:solidFill>
                  <a:srgbClr val="FFC000"/>
                </a:solidFill>
                <a:effectLst/>
              </a:rPr>
              <a:t>)</a:t>
            </a:r>
            <a:r>
              <a:rPr kumimoji="0" lang="en-US" altLang="en-US" sz="1800" b="0" i="0" u="none" strike="noStrike" cap="none" normalizeH="0" baseline="0" dirty="0">
                <a:ln>
                  <a:noFill/>
                </a:ln>
                <a:solidFill>
                  <a:schemeClr val="accent3">
                    <a:lumMod val="60000"/>
                    <a:lumOff val="40000"/>
                  </a:schemeClr>
                </a:solidFill>
                <a:effectLst/>
              </a:rPr>
              <a:t>→</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rgbClr val="FFC000"/>
                </a:solidFill>
                <a:effectLst/>
              </a:rPr>
              <a:t>(</a:t>
            </a:r>
            <a:r>
              <a:rPr kumimoji="0" lang="en-US" altLang="en-US" sz="1800" b="0" i="0" u="none" strike="noStrike" cap="none" normalizeH="0" baseline="0" dirty="0" err="1">
                <a:ln>
                  <a:noFill/>
                </a:ln>
                <a:solidFill>
                  <a:schemeClr val="accent3">
                    <a:lumMod val="60000"/>
                    <a:lumOff val="40000"/>
                  </a:schemeClr>
                </a:solidFill>
                <a:effectLst/>
                <a:latin typeface="Arial Unicode MS"/>
              </a:rPr>
              <a:t>Observation_Status</a:t>
            </a:r>
            <a:r>
              <a:rPr kumimoji="0" lang="en-US" altLang="en-US" sz="1800" b="0" i="0" u="none" strike="noStrike" cap="none" normalizeH="0" baseline="0" dirty="0">
                <a:ln>
                  <a:noFill/>
                </a:ln>
                <a:solidFill>
                  <a:srgbClr val="FFC000"/>
                </a:solidFill>
                <a:effectLst/>
                <a:latin typeface="Arial Unicode MS"/>
              </a:rPr>
              <a:t>)</a:t>
            </a:r>
            <a:endParaRPr kumimoji="0" lang="en-US" altLang="en-US" sz="1800" b="0" i="0" u="none" strike="noStrike" cap="none" normalizeH="0" baseline="0" dirty="0">
              <a:ln>
                <a:noFill/>
              </a:ln>
              <a:solidFill>
                <a:srgbClr val="FFC000"/>
              </a:solidFill>
              <a:effectLst/>
            </a:endParaRPr>
          </a:p>
          <a:p>
            <a:r>
              <a:rPr kumimoji="0" lang="en-US" altLang="en-US" sz="1800" b="0" i="0" u="none" strike="noStrike" cap="none" normalizeH="0" baseline="0" dirty="0">
                <a:ln>
                  <a:noFill/>
                </a:ln>
                <a:solidFill>
                  <a:srgbClr val="FFC000"/>
                </a:solidFill>
                <a:effectLst/>
                <a:latin typeface="Arial Unicode MS"/>
              </a:rPr>
              <a:t>(</a:t>
            </a:r>
            <a:r>
              <a:rPr kumimoji="0" lang="en-US" altLang="en-US" sz="1800" b="0" i="0" u="none" strike="noStrike" cap="none" normalizeH="0" baseline="0" dirty="0">
                <a:ln>
                  <a:noFill/>
                </a:ln>
                <a:solidFill>
                  <a:schemeClr val="accent3">
                    <a:lumMod val="60000"/>
                    <a:lumOff val="40000"/>
                  </a:schemeClr>
                </a:solidFill>
                <a:effectLst/>
                <a:latin typeface="Arial Unicode MS"/>
              </a:rPr>
              <a:t>Countryiso3code</a:t>
            </a:r>
            <a:r>
              <a:rPr kumimoji="0" lang="en-US" altLang="en-US" sz="1800" b="0" i="0" u="none" strike="noStrike" cap="none" normalizeH="0" baseline="0" dirty="0">
                <a:ln>
                  <a:noFill/>
                </a:ln>
                <a:solidFill>
                  <a:srgbClr val="FFC000"/>
                </a:solidFill>
                <a:effectLst/>
                <a:latin typeface="Arial Unicode MS"/>
              </a:rPr>
              <a:t>)</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accent3">
                    <a:lumMod val="60000"/>
                    <a:lumOff val="40000"/>
                  </a:schemeClr>
                </a:solidFill>
                <a:effectLst/>
              </a:rPr>
              <a:t>→</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rgbClr val="FFC000"/>
                </a:solidFill>
                <a:effectLst/>
              </a:rPr>
              <a:t>(</a:t>
            </a:r>
            <a:r>
              <a:rPr kumimoji="0" lang="en-US" altLang="en-US" sz="1800" b="0" i="0" u="none" strike="noStrike" cap="none" normalizeH="0" baseline="0" dirty="0" err="1">
                <a:ln>
                  <a:noFill/>
                </a:ln>
                <a:solidFill>
                  <a:schemeClr val="accent3">
                    <a:lumMod val="60000"/>
                    <a:lumOff val="40000"/>
                  </a:schemeClr>
                </a:solidFill>
                <a:effectLst/>
                <a:latin typeface="Arial Unicode MS"/>
              </a:rPr>
              <a:t>Country_Code</a:t>
            </a:r>
            <a:r>
              <a:rPr kumimoji="0" lang="en-US" altLang="en-US" sz="1800" b="0" i="0" u="none" strike="noStrike" cap="none" normalizeH="0" baseline="0" dirty="0">
                <a:ln>
                  <a:noFill/>
                </a:ln>
                <a:solidFill>
                  <a:srgbClr val="FFC000"/>
                </a:solidFill>
                <a:effectLst/>
                <a:latin typeface="Arial Unicode MS"/>
              </a:rPr>
              <a:t>)</a:t>
            </a:r>
            <a:endParaRPr kumimoji="0" lang="en-US" altLang="en-US" sz="1800" b="0" i="0" u="none" strike="noStrike" cap="none" normalizeH="0" baseline="0" dirty="0">
              <a:ln>
                <a:noFill/>
              </a:ln>
              <a:solidFill>
                <a:srgbClr val="FFC000"/>
              </a:solidFill>
              <a:effectLst/>
              <a:latin typeface="Arial" panose="020B0604020202020204" pitchFamily="34" charset="0"/>
            </a:endParaRPr>
          </a:p>
          <a:p>
            <a:endParaRPr kumimoji="0" lang="en-US" altLang="en-US" sz="1800" b="1" i="0" u="none" strike="noStrike" cap="none" normalizeH="0" baseline="0" dirty="0">
              <a:ln>
                <a:noFill/>
              </a:ln>
              <a:solidFill>
                <a:srgbClr val="FFC000"/>
              </a:solidFill>
              <a:effectLst/>
            </a:endParaRPr>
          </a:p>
        </p:txBody>
      </p:sp>
    </p:spTree>
    <p:extLst>
      <p:ext uri="{BB962C8B-B14F-4D97-AF65-F5344CB8AC3E}">
        <p14:creationId xmlns:p14="http://schemas.microsoft.com/office/powerpoint/2010/main" val="1761091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FB7478-682C-3C62-30CC-7D0A46AD4E8D}"/>
              </a:ext>
            </a:extLst>
          </p:cNvPr>
          <p:cNvSpPr>
            <a:spLocks noGrp="1"/>
          </p:cNvSpPr>
          <p:nvPr>
            <p:ph idx="1"/>
          </p:nvPr>
        </p:nvSpPr>
        <p:spPr>
          <a:xfrm>
            <a:off x="0" y="0"/>
            <a:ext cx="10353762" cy="4058751"/>
          </a:xfrm>
        </p:spPr>
        <p:txBody>
          <a:bodyPr/>
          <a:lstStyle/>
          <a:p>
            <a:r>
              <a:rPr lang="en-US" dirty="0"/>
              <a:t>12. data["Year"] = </a:t>
            </a:r>
            <a:r>
              <a:rPr lang="en-US" dirty="0" err="1"/>
              <a:t>pd.to_numeric</a:t>
            </a:r>
            <a:r>
              <a:rPr lang="en-US" dirty="0"/>
              <a:t>(data["Year"], errors="coerce") :</a:t>
            </a:r>
            <a:br>
              <a:rPr lang="en-US" dirty="0"/>
            </a:br>
            <a:r>
              <a:rPr lang="en-US" dirty="0">
                <a:solidFill>
                  <a:srgbClr val="FFC000"/>
                </a:solidFill>
              </a:rPr>
              <a:t>Converts the </a:t>
            </a:r>
            <a:r>
              <a:rPr lang="en-US" b="1" dirty="0">
                <a:solidFill>
                  <a:srgbClr val="FFC000"/>
                </a:solidFill>
              </a:rPr>
              <a:t>Year column</a:t>
            </a:r>
            <a:r>
              <a:rPr lang="en-US" dirty="0">
                <a:solidFill>
                  <a:srgbClr val="FFC000"/>
                </a:solidFill>
              </a:rPr>
              <a:t> to numbers (int/float)</a:t>
            </a:r>
            <a:br>
              <a:rPr lang="en-US" dirty="0">
                <a:solidFill>
                  <a:srgbClr val="FFC000"/>
                </a:solidFill>
              </a:rPr>
            </a:br>
            <a:r>
              <a:rPr lang="en-US" dirty="0">
                <a:solidFill>
                  <a:srgbClr val="FFC000"/>
                </a:solidFill>
              </a:rPr>
              <a:t>If there’s invalid data (like text), it turns into NAN (errors="coerce“)</a:t>
            </a:r>
            <a:br>
              <a:rPr lang="en-US" dirty="0">
                <a:solidFill>
                  <a:srgbClr val="FFC000"/>
                </a:solidFill>
              </a:rPr>
            </a:br>
            <a:endParaRPr lang="en-US" dirty="0">
              <a:solidFill>
                <a:srgbClr val="FFC000"/>
              </a:solidFill>
            </a:endParaRPr>
          </a:p>
        </p:txBody>
      </p:sp>
      <p:pic>
        <p:nvPicPr>
          <p:cNvPr id="10" name="Picture 9" descr="A screenshot of a computer&#10;&#10;AI-generated content may be incorrect.">
            <a:extLst>
              <a:ext uri="{FF2B5EF4-FFF2-40B4-BE49-F238E27FC236}">
                <a16:creationId xmlns:a16="http://schemas.microsoft.com/office/drawing/2014/main" id="{A5554623-E24C-BD85-200E-5FB77E216A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6669" y="1054359"/>
            <a:ext cx="8276253" cy="5803641"/>
          </a:xfrm>
          <a:prstGeom prst="rect">
            <a:avLst/>
          </a:prstGeom>
        </p:spPr>
      </p:pic>
    </p:spTree>
    <p:extLst>
      <p:ext uri="{BB962C8B-B14F-4D97-AF65-F5344CB8AC3E}">
        <p14:creationId xmlns:p14="http://schemas.microsoft.com/office/powerpoint/2010/main" val="3581187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63775A10-C854-1240-26E7-CC312DD382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8963" y="83975"/>
            <a:ext cx="9507893" cy="5393094"/>
          </a:xfrm>
        </p:spPr>
      </p:pic>
    </p:spTree>
    <p:extLst>
      <p:ext uri="{BB962C8B-B14F-4D97-AF65-F5344CB8AC3E}">
        <p14:creationId xmlns:p14="http://schemas.microsoft.com/office/powerpoint/2010/main" val="1781425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800876-0439-4C04-E791-27D7C6A7780D}"/>
              </a:ext>
            </a:extLst>
          </p:cNvPr>
          <p:cNvSpPr>
            <a:spLocks noGrp="1"/>
          </p:cNvSpPr>
          <p:nvPr>
            <p:ph idx="1"/>
          </p:nvPr>
        </p:nvSpPr>
        <p:spPr>
          <a:xfrm>
            <a:off x="0" y="0"/>
            <a:ext cx="11709918" cy="6643396"/>
          </a:xfrm>
        </p:spPr>
        <p:txBody>
          <a:bodyPr/>
          <a:lstStyle/>
          <a:p>
            <a:r>
              <a:rPr lang="ar-EG" dirty="0"/>
              <a:t>13</a:t>
            </a:r>
            <a:r>
              <a:rPr lang="en-US" dirty="0"/>
              <a:t>. data["Population"] = </a:t>
            </a:r>
            <a:r>
              <a:rPr lang="en-US" dirty="0" err="1"/>
              <a:t>pd.to_numeric</a:t>
            </a:r>
            <a:r>
              <a:rPr lang="en-US" dirty="0"/>
              <a:t>(data["Population"], errors="coerce")</a:t>
            </a:r>
            <a:r>
              <a:rPr lang="ar-EG" dirty="0"/>
              <a:t>:</a:t>
            </a:r>
            <a:br>
              <a:rPr lang="ar-EG" dirty="0"/>
            </a:br>
            <a:r>
              <a:rPr lang="en-US" dirty="0">
                <a:solidFill>
                  <a:srgbClr val="FFC000"/>
                </a:solidFill>
              </a:rPr>
              <a:t>Converts the </a:t>
            </a:r>
            <a:r>
              <a:rPr lang="en-US" b="1" dirty="0">
                <a:solidFill>
                  <a:srgbClr val="FFC000"/>
                </a:solidFill>
              </a:rPr>
              <a:t>Population column</a:t>
            </a:r>
            <a:r>
              <a:rPr lang="en-US" dirty="0">
                <a:solidFill>
                  <a:srgbClr val="FFC000"/>
                </a:solidFill>
              </a:rPr>
              <a:t> to numeric values</a:t>
            </a:r>
            <a:br>
              <a:rPr lang="ar-EG" dirty="0">
                <a:solidFill>
                  <a:srgbClr val="FFC000"/>
                </a:solidFill>
              </a:rPr>
            </a:br>
            <a:r>
              <a:rPr lang="en-US" dirty="0">
                <a:solidFill>
                  <a:srgbClr val="FFC000"/>
                </a:solidFill>
              </a:rPr>
              <a:t>If there are invalid (non-numeric) entries, they become </a:t>
            </a:r>
            <a:r>
              <a:rPr lang="en-US" b="1" dirty="0" err="1">
                <a:solidFill>
                  <a:srgbClr val="FFC000"/>
                </a:solidFill>
              </a:rPr>
              <a:t>NaN</a:t>
            </a:r>
            <a:r>
              <a:rPr lang="en-US" dirty="0">
                <a:solidFill>
                  <a:srgbClr val="FFC000"/>
                </a:solidFill>
              </a:rPr>
              <a:t>.</a:t>
            </a:r>
            <a:br>
              <a:rPr lang="ar-EG" dirty="0">
                <a:solidFill>
                  <a:srgbClr val="FFC000"/>
                </a:solidFill>
              </a:rPr>
            </a:br>
            <a:r>
              <a:rPr lang="en-US" dirty="0"/>
              <a:t>14. ["Type"] = data["</a:t>
            </a:r>
            <a:r>
              <a:rPr lang="en-US" dirty="0" err="1"/>
              <a:t>Country_Code</a:t>
            </a:r>
            <a:r>
              <a:rPr lang="en-US" dirty="0"/>
              <a:t>"].apply(lambda x: "Country" if </a:t>
            </a:r>
            <a:r>
              <a:rPr lang="en-US" dirty="0" err="1"/>
              <a:t>isinstance</a:t>
            </a:r>
            <a:r>
              <a:rPr lang="en-US" dirty="0"/>
              <a:t>(x, str) and </a:t>
            </a:r>
            <a:r>
              <a:rPr lang="en-US" dirty="0" err="1"/>
              <a:t>len</a:t>
            </a:r>
            <a:r>
              <a:rPr lang="en-US" dirty="0"/>
              <a:t>(x) == 3 else "Region") :</a:t>
            </a:r>
            <a:r>
              <a:rPr lang="en-US" dirty="0">
                <a:solidFill>
                  <a:srgbClr val="FFC000"/>
                </a:solidFill>
              </a:rPr>
              <a:t>Creates a new column called </a:t>
            </a:r>
            <a:r>
              <a:rPr lang="en-US" b="1" dirty="0">
                <a:solidFill>
                  <a:srgbClr val="FFC000"/>
                </a:solidFill>
              </a:rPr>
              <a:t>Type</a:t>
            </a:r>
            <a:r>
              <a:rPr lang="en-US" dirty="0">
                <a:solidFill>
                  <a:srgbClr val="FFC000"/>
                </a:solidFill>
              </a:rPr>
              <a:t>:</a:t>
            </a:r>
            <a:br>
              <a:rPr lang="en-US" dirty="0">
                <a:solidFill>
                  <a:srgbClr val="FFC000"/>
                </a:solidFill>
              </a:rPr>
            </a:br>
            <a:r>
              <a:rPr kumimoji="0" lang="en-US" altLang="en-US" sz="1800" b="0" i="0" u="none" strike="noStrike" cap="none" normalizeH="0" baseline="0" dirty="0">
                <a:ln>
                  <a:noFill/>
                </a:ln>
                <a:solidFill>
                  <a:srgbClr val="FFC000"/>
                </a:solidFill>
                <a:effectLst/>
                <a:latin typeface="Arial" panose="020B0604020202020204" pitchFamily="34" charset="0"/>
              </a:rPr>
              <a:t>If </a:t>
            </a:r>
            <a:r>
              <a:rPr kumimoji="0" lang="en-US" altLang="en-US" sz="1800" b="0" i="0" u="none" strike="noStrike" cap="none" normalizeH="0" baseline="0" dirty="0" err="1">
                <a:ln>
                  <a:noFill/>
                </a:ln>
                <a:solidFill>
                  <a:srgbClr val="FFC000"/>
                </a:solidFill>
                <a:effectLst/>
                <a:latin typeface="Arial Unicode MS"/>
              </a:rPr>
              <a:t>Country_Code</a:t>
            </a:r>
            <a:r>
              <a:rPr kumimoji="0" lang="en-US" altLang="en-US" sz="1800" b="0" i="0" u="none" strike="noStrike" cap="none" normalizeH="0" baseline="0" dirty="0">
                <a:ln>
                  <a:noFill/>
                </a:ln>
                <a:solidFill>
                  <a:srgbClr val="FFC000"/>
                </a:solidFill>
                <a:effectLst/>
              </a:rPr>
              <a:t> is a string of 3 letters → label it as </a:t>
            </a:r>
            <a:r>
              <a:rPr kumimoji="0" lang="en-US" altLang="en-US" sz="1800" b="0" i="0" u="none" strike="noStrike" cap="none" normalizeH="0" baseline="0" dirty="0">
                <a:ln>
                  <a:noFill/>
                </a:ln>
                <a:solidFill>
                  <a:srgbClr val="FFC000"/>
                </a:solidFill>
                <a:effectLst/>
                <a:latin typeface="Arial Unicode MS"/>
              </a:rPr>
              <a:t>"Country"</a:t>
            </a:r>
            <a:r>
              <a:rPr kumimoji="0" lang="en-US" altLang="en-US" sz="1800" b="0" i="0" u="none" strike="noStrike" cap="none" normalizeH="0" baseline="0" dirty="0">
                <a:ln>
                  <a:noFill/>
                </a:ln>
                <a:solidFill>
                  <a:srgbClr val="FFC000"/>
                </a:solidFill>
                <a:effectLst/>
              </a:rPr>
              <a:t>  </a:t>
            </a:r>
            <a:br>
              <a:rPr kumimoji="0" lang="en-US" altLang="en-US" sz="1800" b="0" i="0" u="none" strike="noStrike" cap="none" normalizeH="0" baseline="0" dirty="0">
                <a:ln>
                  <a:noFill/>
                </a:ln>
                <a:solidFill>
                  <a:srgbClr val="FFC000"/>
                </a:solidFill>
                <a:effectLst/>
              </a:rPr>
            </a:br>
            <a:r>
              <a:rPr kumimoji="0" lang="en-US" altLang="en-US" sz="1800" b="0" i="0" u="none" strike="noStrike" cap="none" normalizeH="0" baseline="0" dirty="0">
                <a:ln>
                  <a:noFill/>
                </a:ln>
                <a:solidFill>
                  <a:srgbClr val="FFC000"/>
                </a:solidFill>
                <a:effectLst/>
              </a:rPr>
              <a:t>otherwise </a:t>
            </a:r>
            <a:r>
              <a:rPr kumimoji="0" lang="en-US" altLang="en-US" sz="1800" b="0" i="0" u="none" strike="noStrike" cap="none" normalizeH="0" baseline="0" dirty="0">
                <a:ln>
                  <a:noFill/>
                </a:ln>
                <a:solidFill>
                  <a:schemeClr val="accent3">
                    <a:lumMod val="60000"/>
                    <a:lumOff val="40000"/>
                  </a:schemeClr>
                </a:solidFill>
                <a:effectLst/>
              </a:rPr>
              <a:t>→ </a:t>
            </a:r>
            <a:r>
              <a:rPr lang="en-US" sz="1600" dirty="0"/>
              <a:t>"Region”</a:t>
            </a:r>
            <a:br>
              <a:rPr lang="en-US" sz="1600" dirty="0"/>
            </a:br>
            <a:r>
              <a:rPr lang="en-US" dirty="0"/>
              <a:t>15. data = </a:t>
            </a:r>
            <a:r>
              <a:rPr lang="en-US" dirty="0" err="1"/>
              <a:t>data.sort_values</a:t>
            </a:r>
            <a:r>
              <a:rPr lang="en-US" dirty="0"/>
              <a:t>(["Type", "</a:t>
            </a:r>
            <a:r>
              <a:rPr lang="en-US" dirty="0" err="1"/>
              <a:t>Country_Code</a:t>
            </a:r>
            <a:r>
              <a:rPr lang="en-US" dirty="0"/>
              <a:t>", "Year"]) :</a:t>
            </a:r>
            <a:br>
              <a:rPr lang="en-US" dirty="0"/>
            </a:br>
            <a:r>
              <a:rPr lang="en-US" dirty="0">
                <a:solidFill>
                  <a:srgbClr val="FFC000"/>
                </a:solidFill>
              </a:rPr>
              <a:t>Sorts the dataset by </a:t>
            </a:r>
            <a:r>
              <a:rPr lang="en-US" b="1" dirty="0">
                <a:solidFill>
                  <a:srgbClr val="FFC000"/>
                </a:solidFill>
              </a:rPr>
              <a:t>Type → </a:t>
            </a:r>
            <a:r>
              <a:rPr lang="en-US" b="1" dirty="0" err="1">
                <a:solidFill>
                  <a:srgbClr val="FFC000"/>
                </a:solidFill>
              </a:rPr>
              <a:t>Country_Code</a:t>
            </a:r>
            <a:r>
              <a:rPr lang="en-US" b="1" dirty="0">
                <a:solidFill>
                  <a:srgbClr val="FFC000"/>
                </a:solidFill>
              </a:rPr>
              <a:t> → Year</a:t>
            </a:r>
            <a:r>
              <a:rPr lang="en-US" dirty="0">
                <a:solidFill>
                  <a:srgbClr val="FFC000"/>
                </a:solidFill>
              </a:rPr>
              <a:t> to make sure values are ordered logically</a:t>
            </a:r>
            <a:br>
              <a:rPr lang="en-US" dirty="0">
                <a:solidFill>
                  <a:srgbClr val="FFC000"/>
                </a:solidFill>
              </a:rPr>
            </a:br>
            <a:r>
              <a:rPr lang="en-US" dirty="0">
                <a:solidFill>
                  <a:schemeClr val="accent3">
                    <a:lumMod val="60000"/>
                    <a:lumOff val="40000"/>
                  </a:schemeClr>
                </a:solidFill>
              </a:rPr>
              <a:t>16. </a:t>
            </a:r>
            <a:r>
              <a:rPr lang="en-US" dirty="0"/>
              <a:t>data = </a:t>
            </a:r>
            <a:r>
              <a:rPr lang="en-US" dirty="0" err="1"/>
              <a:t>data.drop_duplicates</a:t>
            </a:r>
            <a:r>
              <a:rPr lang="en-US" dirty="0"/>
              <a:t>(subset=["Type", "</a:t>
            </a:r>
            <a:r>
              <a:rPr lang="en-US" dirty="0" err="1"/>
              <a:t>Country_Code</a:t>
            </a:r>
            <a:r>
              <a:rPr lang="en-US" dirty="0"/>
              <a:t>", "Year"])</a:t>
            </a:r>
            <a:r>
              <a:rPr lang="ar-EG" dirty="0"/>
              <a:t>:</a:t>
            </a:r>
            <a:br>
              <a:rPr lang="ar-EG" dirty="0"/>
            </a:br>
            <a:r>
              <a:rPr lang="en-US" dirty="0">
                <a:solidFill>
                  <a:srgbClr val="FFC000"/>
                </a:solidFill>
              </a:rPr>
              <a:t>Removes any </a:t>
            </a:r>
            <a:r>
              <a:rPr lang="en-US" b="1" dirty="0">
                <a:solidFill>
                  <a:srgbClr val="FFC000"/>
                </a:solidFill>
              </a:rPr>
              <a:t>duplicate rows</a:t>
            </a:r>
            <a:r>
              <a:rPr lang="en-US" dirty="0">
                <a:solidFill>
                  <a:srgbClr val="FFC000"/>
                </a:solidFill>
              </a:rPr>
              <a:t> that have the same Type, </a:t>
            </a:r>
            <a:r>
              <a:rPr lang="en-US" dirty="0" err="1">
                <a:solidFill>
                  <a:srgbClr val="FFC000"/>
                </a:solidFill>
              </a:rPr>
              <a:t>Country_Code</a:t>
            </a:r>
            <a:r>
              <a:rPr lang="en-US" dirty="0">
                <a:solidFill>
                  <a:srgbClr val="FFC000"/>
                </a:solidFill>
              </a:rPr>
              <a:t>, and Year.</a:t>
            </a:r>
            <a:br>
              <a:rPr lang="ar-EG" dirty="0">
                <a:solidFill>
                  <a:srgbClr val="FFC000"/>
                </a:solidFill>
              </a:rPr>
            </a:br>
            <a:r>
              <a:rPr lang="ar-EG" dirty="0"/>
              <a:t>17</a:t>
            </a:r>
            <a:r>
              <a:rPr lang="en-US" dirty="0"/>
              <a:t>. data["</a:t>
            </a:r>
            <a:r>
              <a:rPr lang="en-US" dirty="0" err="1"/>
              <a:t>Population_Change</a:t>
            </a:r>
            <a:r>
              <a:rPr lang="en-US" dirty="0"/>
              <a:t>"] = </a:t>
            </a:r>
            <a:r>
              <a:rPr lang="en-US" dirty="0" err="1"/>
              <a:t>data.groupby</a:t>
            </a:r>
            <a:r>
              <a:rPr lang="en-US" dirty="0"/>
              <a:t>(["</a:t>
            </a:r>
            <a:r>
              <a:rPr lang="en-US" dirty="0" err="1"/>
              <a:t>Country_Code</a:t>
            </a:r>
            <a:r>
              <a:rPr lang="en-US" dirty="0"/>
              <a:t>"])["Population"].diff():</a:t>
            </a:r>
            <a:br>
              <a:rPr lang="en-US" dirty="0"/>
            </a:br>
            <a:br>
              <a:rPr lang="en-US" dirty="0"/>
            </a:br>
            <a:br>
              <a:rPr lang="en-US" dirty="0"/>
            </a:br>
            <a:br>
              <a:rPr lang="en-US" dirty="0"/>
            </a:br>
            <a:br>
              <a:rPr lang="en-US" dirty="0"/>
            </a:br>
            <a:br>
              <a:rPr lang="en-US" dirty="0"/>
            </a:br>
            <a:r>
              <a:rPr lang="en-US" dirty="0"/>
              <a:t>18. data["</a:t>
            </a:r>
            <a:r>
              <a:rPr lang="en-US" dirty="0" err="1"/>
              <a:t>Population_Growth</a:t>
            </a:r>
            <a:r>
              <a:rPr lang="en-US" dirty="0"/>
              <a:t>"] = </a:t>
            </a:r>
            <a:r>
              <a:rPr lang="en-US" dirty="0" err="1"/>
              <a:t>data.groupby</a:t>
            </a:r>
            <a:r>
              <a:rPr lang="en-US" dirty="0"/>
              <a:t>(["</a:t>
            </a:r>
            <a:r>
              <a:rPr lang="en-US" dirty="0" err="1"/>
              <a:t>Country_Code</a:t>
            </a:r>
            <a:r>
              <a:rPr lang="en-US" dirty="0"/>
              <a:t>"])["Population"].</a:t>
            </a:r>
            <a:r>
              <a:rPr lang="en-US" dirty="0" err="1"/>
              <a:t>pct_change</a:t>
            </a:r>
            <a:r>
              <a:rPr lang="en-US" dirty="0"/>
              <a:t>() *100:</a:t>
            </a:r>
            <a:br>
              <a:rPr lang="en-US" dirty="0"/>
            </a:br>
            <a:r>
              <a:rPr lang="en-US" dirty="0">
                <a:solidFill>
                  <a:srgbClr val="FFC000"/>
                </a:solidFill>
              </a:rPr>
              <a:t>Calculates the </a:t>
            </a:r>
            <a:r>
              <a:rPr lang="en-US" b="1" dirty="0">
                <a:solidFill>
                  <a:srgbClr val="FFC000"/>
                </a:solidFill>
              </a:rPr>
              <a:t>percentage growth rate</a:t>
            </a:r>
            <a:r>
              <a:rPr lang="en-US" dirty="0">
                <a:solidFill>
                  <a:srgbClr val="FFC000"/>
                </a:solidFill>
              </a:rPr>
              <a:t> of population </a:t>
            </a:r>
            <a:r>
              <a:rPr lang="en-US" b="1" dirty="0">
                <a:solidFill>
                  <a:srgbClr val="FFC000"/>
                </a:solidFill>
              </a:rPr>
              <a:t>per country/region</a:t>
            </a:r>
            <a:r>
              <a:rPr lang="en-US" dirty="0">
                <a:solidFill>
                  <a:srgbClr val="FFC000"/>
                </a:solidFill>
              </a:rPr>
              <a:t>.</a:t>
            </a:r>
            <a:endParaRPr kumimoji="0" lang="en-US" altLang="en-US" b="0" i="0" u="none" strike="noStrike" cap="none" normalizeH="0" baseline="0" dirty="0">
              <a:ln>
                <a:noFill/>
              </a:ln>
              <a:solidFill>
                <a:srgbClr val="FFC000"/>
              </a:solidFill>
              <a:effectLst/>
              <a:latin typeface="Arial" panose="020B0604020202020204" pitchFamily="34" charset="0"/>
            </a:endParaRPr>
          </a:p>
        </p:txBody>
      </p:sp>
      <p:sp>
        <p:nvSpPr>
          <p:cNvPr id="5" name="Rectangle 2">
            <a:extLst>
              <a:ext uri="{FF2B5EF4-FFF2-40B4-BE49-F238E27FC236}">
                <a16:creationId xmlns:a16="http://schemas.microsoft.com/office/drawing/2014/main" id="{FC1A2C05-09EF-325A-1243-95AEE4295222}"/>
              </a:ext>
            </a:extLst>
          </p:cNvPr>
          <p:cNvSpPr>
            <a:spLocks noChangeArrowheads="1"/>
          </p:cNvSpPr>
          <p:nvPr/>
        </p:nvSpPr>
        <p:spPr bwMode="auto">
          <a:xfrm flipV="1">
            <a:off x="93306" y="-110021"/>
            <a:ext cx="1209869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Otherwise → </a:t>
            </a:r>
            <a:r>
              <a:rPr kumimoji="0" lang="en-US" altLang="en-US" sz="1000" b="0" i="0" u="none" strike="noStrike" cap="none" normalizeH="0" baseline="0" dirty="0">
                <a:ln>
                  <a:noFill/>
                </a:ln>
                <a:solidFill>
                  <a:schemeClr val="tx1"/>
                </a:solidFill>
                <a:effectLst/>
                <a:latin typeface="Arial Unicode MS"/>
              </a:rPr>
              <a:t>"Region"</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4">
            <a:extLst>
              <a:ext uri="{FF2B5EF4-FFF2-40B4-BE49-F238E27FC236}">
                <a16:creationId xmlns:a16="http://schemas.microsoft.com/office/drawing/2014/main" id="{62B23A10-5046-1261-3C36-B1EBE16FF392}"/>
              </a:ext>
            </a:extLst>
          </p:cNvPr>
          <p:cNvSpPr>
            <a:spLocks noChangeArrowheads="1"/>
          </p:cNvSpPr>
          <p:nvPr/>
        </p:nvSpPr>
        <p:spPr bwMode="auto">
          <a:xfrm>
            <a:off x="562947" y="3682588"/>
            <a:ext cx="728098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FFC000"/>
                </a:solidFill>
                <a:effectLst/>
                <a:latin typeface="Arial" panose="020B0604020202020204" pitchFamily="34" charset="0"/>
              </a:rPr>
              <a:t>Calculates the </a:t>
            </a:r>
            <a:r>
              <a:rPr kumimoji="0" lang="en-US" altLang="en-US" sz="1800" b="1" i="0" u="none" strike="noStrike" cap="none" normalizeH="0" baseline="0" dirty="0">
                <a:ln>
                  <a:noFill/>
                </a:ln>
                <a:solidFill>
                  <a:srgbClr val="FFC000"/>
                </a:solidFill>
                <a:effectLst/>
                <a:latin typeface="Arial" panose="020B0604020202020204" pitchFamily="34" charset="0"/>
              </a:rPr>
              <a:t>absolute change in population</a:t>
            </a:r>
            <a:r>
              <a:rPr kumimoji="0" lang="en-US" altLang="en-US" sz="1800" b="0" i="0" u="none" strike="noStrike" cap="none" normalizeH="0" baseline="0" dirty="0">
                <a:ln>
                  <a:noFill/>
                </a:ln>
                <a:solidFill>
                  <a:srgbClr val="FFC000"/>
                </a:solidFill>
                <a:effectLst/>
                <a:latin typeface="Arial" panose="020B0604020202020204" pitchFamily="34" charset="0"/>
              </a:rPr>
              <a:t> from one year to the </a:t>
            </a:r>
            <a:r>
              <a:rPr lang="en-US" altLang="en-US" dirty="0">
                <a:solidFill>
                  <a:srgbClr val="FFC000"/>
                </a:solidFill>
                <a:latin typeface="Arial" panose="020B0604020202020204" pitchFamily="34" charset="0"/>
              </a:rPr>
              <a:t>next country/</a:t>
            </a:r>
            <a:r>
              <a:rPr lang="en-US" altLang="en-US" dirty="0" err="1">
                <a:solidFill>
                  <a:srgbClr val="FFC000"/>
                </a:solidFill>
                <a:latin typeface="Arial" panose="020B0604020202020204" pitchFamily="34" charset="0"/>
              </a:rPr>
              <a:t>reigon</a:t>
            </a:r>
            <a:r>
              <a:rPr lang="en-US" altLang="en-US" dirty="0">
                <a:solidFill>
                  <a:srgbClr val="FFC000"/>
                </a:solidFill>
                <a:latin typeface="Arial" panose="020B0604020202020204" pitchFamily="34" charset="0"/>
              </a:rPr>
              <a:t> </a:t>
            </a:r>
            <a:br>
              <a:rPr lang="en-US" altLang="en-US" dirty="0">
                <a:solidFill>
                  <a:srgbClr val="FFC000"/>
                </a:solidFill>
                <a:latin typeface="Arial" panose="020B0604020202020204" pitchFamily="34" charset="0"/>
              </a:rPr>
            </a:br>
            <a:r>
              <a:rPr lang="en-US" altLang="en-US" dirty="0">
                <a:solidFill>
                  <a:srgbClr val="FFC000"/>
                </a:solidFill>
                <a:latin typeface="Arial" panose="020B0604020202020204" pitchFamily="34" charset="0"/>
              </a:rPr>
              <a:t>formula:</a:t>
            </a:r>
            <a:br>
              <a:rPr lang="en-US" altLang="en-US" dirty="0">
                <a:solidFill>
                  <a:srgbClr val="FFC000"/>
                </a:solidFill>
                <a:latin typeface="Arial" panose="020B0604020202020204" pitchFamily="34" charset="0"/>
              </a:rPr>
            </a:br>
            <a:r>
              <a:rPr lang="el-GR" dirty="0">
                <a:solidFill>
                  <a:srgbClr val="92D050"/>
                </a:solidFill>
              </a:rPr>
              <a:t>Δ</a:t>
            </a:r>
            <a:r>
              <a:rPr lang="en-US" dirty="0" err="1">
                <a:solidFill>
                  <a:srgbClr val="92D050"/>
                </a:solidFill>
              </a:rPr>
              <a:t>Populationt</a:t>
            </a:r>
            <a:r>
              <a:rPr lang="en-US" dirty="0">
                <a:solidFill>
                  <a:srgbClr val="92D050"/>
                </a:solidFill>
              </a:rPr>
              <a:t>​ = population(t) – population(t-1)</a:t>
            </a:r>
            <a:r>
              <a:rPr kumimoji="0" lang="en-US" altLang="en-US" sz="1800" b="0" i="0" u="none" strike="noStrike" cap="none" normalizeH="0" baseline="0" dirty="0">
                <a:ln>
                  <a:noFill/>
                </a:ln>
                <a:solidFill>
                  <a:srgbClr val="92D050"/>
                </a:solidFill>
                <a:effectLst/>
                <a:latin typeface="Arial" panose="020B0604020202020204" pitchFamily="34" charset="0"/>
              </a:rPr>
              <a:t>​ </a:t>
            </a:r>
          </a:p>
        </p:txBody>
      </p:sp>
    </p:spTree>
    <p:extLst>
      <p:ext uri="{BB962C8B-B14F-4D97-AF65-F5344CB8AC3E}">
        <p14:creationId xmlns:p14="http://schemas.microsoft.com/office/powerpoint/2010/main" val="29302611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B6E4A9-603F-9223-DB74-91ED4B40F8B5}"/>
              </a:ext>
            </a:extLst>
          </p:cNvPr>
          <p:cNvSpPr>
            <a:spLocks noGrp="1"/>
          </p:cNvSpPr>
          <p:nvPr>
            <p:ph idx="1"/>
          </p:nvPr>
        </p:nvSpPr>
        <p:spPr>
          <a:xfrm>
            <a:off x="93306" y="0"/>
            <a:ext cx="11989837" cy="6858000"/>
          </a:xfrm>
        </p:spPr>
        <p:txBody>
          <a:bodyPr/>
          <a:lstStyle/>
          <a:p>
            <a:pPr>
              <a:buFont typeface="Arial" panose="020B0604020202020204" pitchFamily="34" charset="0"/>
              <a:buChar char="•"/>
            </a:pPr>
            <a:r>
              <a:rPr lang="en-US" dirty="0"/>
              <a:t>19. def </a:t>
            </a:r>
            <a:r>
              <a:rPr lang="en-US" dirty="0" err="1"/>
              <a:t>classify_population</a:t>
            </a:r>
            <a:r>
              <a:rPr lang="en-US" dirty="0"/>
              <a:t>(pop): ...</a:t>
            </a:r>
            <a:br>
              <a:rPr lang="en-US" dirty="0"/>
            </a:br>
            <a:r>
              <a:rPr lang="en-US" dirty="0">
                <a:solidFill>
                  <a:srgbClr val="FFC000"/>
                </a:solidFill>
              </a:rPr>
              <a:t>Defines a function to </a:t>
            </a:r>
            <a:r>
              <a:rPr lang="en-US" b="1" dirty="0">
                <a:solidFill>
                  <a:srgbClr val="FFC000"/>
                </a:solidFill>
              </a:rPr>
              <a:t>classify countries by population size</a:t>
            </a:r>
            <a:r>
              <a:rPr lang="en-US" dirty="0">
                <a:solidFill>
                  <a:srgbClr val="FFC000"/>
                </a:solidFill>
              </a:rPr>
              <a:t>:</a:t>
            </a:r>
          </a:p>
          <a:p>
            <a:pPr marL="742950" lvl="1" indent="-285750">
              <a:buFont typeface="Arial" panose="020B0604020202020204" pitchFamily="34" charset="0"/>
              <a:buChar char="•"/>
            </a:pPr>
            <a:r>
              <a:rPr lang="en-US" dirty="0">
                <a:solidFill>
                  <a:srgbClr val="FFC000"/>
                </a:solidFill>
              </a:rPr>
              <a:t>≥ 1,000,000,000 → "Very Large"</a:t>
            </a:r>
          </a:p>
          <a:p>
            <a:pPr marL="742950" lvl="1" indent="-285750">
              <a:buFont typeface="Arial" panose="020B0604020202020204" pitchFamily="34" charset="0"/>
              <a:buChar char="•"/>
            </a:pPr>
            <a:r>
              <a:rPr lang="en-US" dirty="0">
                <a:solidFill>
                  <a:srgbClr val="FFC000"/>
                </a:solidFill>
              </a:rPr>
              <a:t>≥ 100,000,000 → "Large"</a:t>
            </a:r>
          </a:p>
          <a:p>
            <a:pPr marL="742950" lvl="1" indent="-285750">
              <a:buFont typeface="Arial" panose="020B0604020202020204" pitchFamily="34" charset="0"/>
              <a:buChar char="•"/>
            </a:pPr>
            <a:r>
              <a:rPr lang="en-US" dirty="0">
                <a:solidFill>
                  <a:srgbClr val="FFC000"/>
                </a:solidFill>
              </a:rPr>
              <a:t>≥ 10,000,000 → "Medium"</a:t>
            </a:r>
          </a:p>
          <a:p>
            <a:pPr marL="742950" lvl="1" indent="-285750">
              <a:buFont typeface="Arial" panose="020B0604020202020204" pitchFamily="34" charset="0"/>
              <a:buChar char="•"/>
            </a:pPr>
            <a:r>
              <a:rPr lang="en-US" dirty="0">
                <a:solidFill>
                  <a:srgbClr val="FFC000"/>
                </a:solidFill>
              </a:rPr>
              <a:t>Else → "Small"</a:t>
            </a:r>
          </a:p>
          <a:p>
            <a:r>
              <a:rPr lang="en-US" dirty="0"/>
              <a:t>20. data["</a:t>
            </a:r>
            <a:r>
              <a:rPr lang="en-US" dirty="0" err="1"/>
              <a:t>Population_Size_Category</a:t>
            </a:r>
            <a:r>
              <a:rPr lang="en-US" dirty="0"/>
              <a:t>"] = data["Population"].apply(</a:t>
            </a:r>
            <a:r>
              <a:rPr lang="en-US" dirty="0" err="1"/>
              <a:t>classify_population</a:t>
            </a:r>
            <a:r>
              <a:rPr lang="en-US" dirty="0"/>
              <a:t>):</a:t>
            </a:r>
            <a:br>
              <a:rPr lang="en-US" dirty="0"/>
            </a:br>
            <a:r>
              <a:rPr lang="en-US" dirty="0">
                <a:solidFill>
                  <a:srgbClr val="FFC000"/>
                </a:solidFill>
              </a:rPr>
              <a:t>Applies the classification function to each row and creates a new column </a:t>
            </a:r>
            <a:r>
              <a:rPr lang="en-US" b="1" dirty="0" err="1">
                <a:solidFill>
                  <a:srgbClr val="FFC000"/>
                </a:solidFill>
              </a:rPr>
              <a:t>Population_Size_Category</a:t>
            </a:r>
            <a:r>
              <a:rPr lang="en-US" dirty="0">
                <a:solidFill>
                  <a:srgbClr val="FFC000"/>
                </a:solidFill>
              </a:rPr>
              <a:t>.</a:t>
            </a:r>
            <a:br>
              <a:rPr lang="en-US" dirty="0">
                <a:solidFill>
                  <a:srgbClr val="FFC000"/>
                </a:solidFill>
              </a:rPr>
            </a:br>
            <a:r>
              <a:rPr lang="en-US" dirty="0">
                <a:solidFill>
                  <a:schemeClr val="accent3">
                    <a:lumMod val="60000"/>
                    <a:lumOff val="40000"/>
                  </a:schemeClr>
                </a:solidFill>
              </a:rPr>
              <a:t>21.</a:t>
            </a:r>
            <a:r>
              <a:rPr lang="en-US" dirty="0">
                <a:solidFill>
                  <a:srgbClr val="FFC000"/>
                </a:solidFill>
              </a:rPr>
              <a:t> </a:t>
            </a:r>
            <a:r>
              <a:rPr lang="en-US" dirty="0"/>
              <a:t>data["Decade"] = (data["Year"] // 10) * 10 :</a:t>
            </a:r>
            <a:br>
              <a:rPr lang="en-US" dirty="0"/>
            </a:br>
            <a:r>
              <a:rPr lang="en-US" dirty="0">
                <a:solidFill>
                  <a:srgbClr val="FFC000"/>
                </a:solidFill>
              </a:rPr>
              <a:t>Creates a </a:t>
            </a:r>
            <a:r>
              <a:rPr lang="en-US" b="1" dirty="0">
                <a:solidFill>
                  <a:srgbClr val="FFC000"/>
                </a:solidFill>
              </a:rPr>
              <a:t>Decade column</a:t>
            </a:r>
            <a:r>
              <a:rPr lang="en-US" dirty="0">
                <a:solidFill>
                  <a:srgbClr val="FFC000"/>
                </a:solidFill>
              </a:rPr>
              <a:t> by grouping years into decades (e.g., 2000–2009 → 2000).</a:t>
            </a:r>
          </a:p>
          <a:p>
            <a:r>
              <a:rPr lang="en-US" dirty="0">
                <a:solidFill>
                  <a:schemeClr val="accent3">
                    <a:lumMod val="60000"/>
                    <a:lumOff val="40000"/>
                  </a:schemeClr>
                </a:solidFill>
              </a:rPr>
              <a:t>22. d</a:t>
            </a:r>
            <a:r>
              <a:rPr lang="en-US" dirty="0"/>
              <a:t>ata["Rank"] = </a:t>
            </a:r>
            <a:r>
              <a:rPr lang="en-US" dirty="0" err="1"/>
              <a:t>data.groupby</a:t>
            </a:r>
            <a:r>
              <a:rPr lang="en-US" dirty="0"/>
              <a:t>("Year")["Population"].rank(ascending=False, method="dense"):</a:t>
            </a:r>
            <a:br>
              <a:rPr lang="en-US" dirty="0"/>
            </a:br>
            <a:r>
              <a:rPr lang="en-US" dirty="0">
                <a:solidFill>
                  <a:srgbClr val="FFC000"/>
                </a:solidFill>
              </a:rPr>
              <a:t>Ranks countries </a:t>
            </a:r>
            <a:r>
              <a:rPr lang="en-US" b="1" dirty="0">
                <a:solidFill>
                  <a:srgbClr val="FFC000"/>
                </a:solidFill>
              </a:rPr>
              <a:t>within each year</a:t>
            </a:r>
            <a:r>
              <a:rPr lang="en-US" dirty="0">
                <a:solidFill>
                  <a:srgbClr val="FFC000"/>
                </a:solidFill>
              </a:rPr>
              <a:t> by population size.</a:t>
            </a:r>
            <a:br>
              <a:rPr lang="en-US" dirty="0">
                <a:solidFill>
                  <a:srgbClr val="FFC000"/>
                </a:solidFill>
              </a:rPr>
            </a:br>
            <a:r>
              <a:rPr lang="en-US" dirty="0"/>
              <a:t>(dense)</a:t>
            </a:r>
            <a:r>
              <a:rPr lang="en-US" dirty="0">
                <a:solidFill>
                  <a:srgbClr val="FFC000"/>
                </a:solidFill>
              </a:rPr>
              <a:t>means if two countries tie, they get the same rank, and the next rank continues sequentially</a:t>
            </a:r>
            <a:br>
              <a:rPr lang="en-US" dirty="0">
                <a:solidFill>
                  <a:srgbClr val="FFC000"/>
                </a:solidFill>
              </a:rPr>
            </a:br>
            <a:br>
              <a:rPr lang="en-US" dirty="0">
                <a:solidFill>
                  <a:srgbClr val="FFC000"/>
                </a:solidFill>
              </a:rPr>
            </a:br>
            <a:r>
              <a:rPr lang="en-US" dirty="0">
                <a:solidFill>
                  <a:schemeClr val="accent3">
                    <a:lumMod val="60000"/>
                    <a:lumOff val="40000"/>
                  </a:schemeClr>
                </a:solidFill>
              </a:rPr>
              <a:t>23.</a:t>
            </a:r>
            <a:r>
              <a:rPr lang="en-US" dirty="0">
                <a:solidFill>
                  <a:srgbClr val="FFC000"/>
                </a:solidFill>
              </a:rPr>
              <a:t> </a:t>
            </a:r>
            <a:r>
              <a:rPr lang="en-US" dirty="0" err="1"/>
              <a:t>data.sample</a:t>
            </a:r>
            <a:r>
              <a:rPr lang="en-US" dirty="0"/>
              <a:t>() :</a:t>
            </a:r>
            <a:br>
              <a:rPr lang="en-US" dirty="0"/>
            </a:br>
            <a:br>
              <a:rPr lang="en-US" dirty="0"/>
            </a:br>
            <a:r>
              <a:rPr lang="en-US" dirty="0">
                <a:solidFill>
                  <a:srgbClr val="FFC000"/>
                </a:solidFill>
              </a:rPr>
              <a:t>Shows a random sample of rows from the dataset to quickly check results.</a:t>
            </a:r>
          </a:p>
          <a:p>
            <a:endParaRPr lang="en-US" dirty="0">
              <a:solidFill>
                <a:srgbClr val="FFC000"/>
              </a:solidFill>
            </a:endParaRPr>
          </a:p>
        </p:txBody>
      </p:sp>
    </p:spTree>
    <p:extLst>
      <p:ext uri="{BB962C8B-B14F-4D97-AF65-F5344CB8AC3E}">
        <p14:creationId xmlns:p14="http://schemas.microsoft.com/office/powerpoint/2010/main" val="3995076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F676AC5-615E-082C-B95D-F0BFE3DDAA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3188" y="231985"/>
            <a:ext cx="12088812" cy="6394030"/>
          </a:xfrm>
        </p:spPr>
      </p:pic>
    </p:spTree>
    <p:extLst>
      <p:ext uri="{BB962C8B-B14F-4D97-AF65-F5344CB8AC3E}">
        <p14:creationId xmlns:p14="http://schemas.microsoft.com/office/powerpoint/2010/main" val="2483235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251D74B-2975-5475-E998-B94932EA9C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90260" y="298580"/>
            <a:ext cx="9088017" cy="4466253"/>
          </a:xfrm>
        </p:spPr>
      </p:pic>
      <p:pic>
        <p:nvPicPr>
          <p:cNvPr id="7" name="Picture 6">
            <a:extLst>
              <a:ext uri="{FF2B5EF4-FFF2-40B4-BE49-F238E27FC236}">
                <a16:creationId xmlns:a16="http://schemas.microsoft.com/office/drawing/2014/main" id="{779D6686-204D-703A-4456-321770DD3E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0321" y="5396129"/>
            <a:ext cx="7201905" cy="1066949"/>
          </a:xfrm>
          <a:prstGeom prst="rect">
            <a:avLst/>
          </a:prstGeom>
        </p:spPr>
      </p:pic>
    </p:spTree>
    <p:extLst>
      <p:ext uri="{BB962C8B-B14F-4D97-AF65-F5344CB8AC3E}">
        <p14:creationId xmlns:p14="http://schemas.microsoft.com/office/powerpoint/2010/main" val="2712517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4A2289-2840-177B-4BE0-3EF3AA948032}"/>
              </a:ext>
            </a:extLst>
          </p:cNvPr>
          <p:cNvSpPr>
            <a:spLocks noGrp="1"/>
          </p:cNvSpPr>
          <p:nvPr>
            <p:ph idx="1"/>
          </p:nvPr>
        </p:nvSpPr>
        <p:spPr>
          <a:xfrm>
            <a:off x="111966" y="0"/>
            <a:ext cx="12080033" cy="6857999"/>
          </a:xfrm>
        </p:spPr>
        <p:txBody>
          <a:bodyPr>
            <a:normAutofit fontScale="92500" lnSpcReduction="10000"/>
          </a:bodyPr>
          <a:lstStyle/>
          <a:p>
            <a:pPr>
              <a:buFont typeface="Arial" panose="020B0604020202020204" pitchFamily="34" charset="0"/>
              <a:buChar char="•"/>
            </a:pPr>
            <a:r>
              <a:rPr lang="en-US" dirty="0"/>
              <a:t>24. data["</a:t>
            </a:r>
            <a:r>
              <a:rPr lang="en-US" dirty="0" err="1"/>
              <a:t>Cumulative_Population</a:t>
            </a:r>
            <a:r>
              <a:rPr lang="en-US" dirty="0"/>
              <a:t>"] = </a:t>
            </a:r>
            <a:r>
              <a:rPr lang="en-US" dirty="0" err="1"/>
              <a:t>data.groupby</a:t>
            </a:r>
            <a:r>
              <a:rPr lang="en-US" dirty="0"/>
              <a:t>("Country")["Population"].</a:t>
            </a:r>
            <a:r>
              <a:rPr lang="en-US" dirty="0" err="1"/>
              <a:t>cumsum</a:t>
            </a:r>
            <a:r>
              <a:rPr lang="en-US" dirty="0"/>
              <a:t>() :</a:t>
            </a:r>
            <a:br>
              <a:rPr lang="en-US" dirty="0"/>
            </a:br>
            <a:r>
              <a:rPr lang="en-US" dirty="0">
                <a:solidFill>
                  <a:srgbClr val="FFC000"/>
                </a:solidFill>
              </a:rPr>
              <a:t>Creates a </a:t>
            </a:r>
            <a:r>
              <a:rPr lang="en-US" b="1" dirty="0">
                <a:solidFill>
                  <a:srgbClr val="FFC000"/>
                </a:solidFill>
              </a:rPr>
              <a:t>cumulative sum of population</a:t>
            </a:r>
            <a:r>
              <a:rPr lang="en-US" dirty="0">
                <a:solidFill>
                  <a:srgbClr val="FFC000"/>
                </a:solidFill>
              </a:rPr>
              <a:t> for each country across years.</a:t>
            </a:r>
          </a:p>
          <a:p>
            <a:pPr>
              <a:buFont typeface="Arial" panose="020B0604020202020204" pitchFamily="34" charset="0"/>
              <a:buChar char="•"/>
            </a:pPr>
            <a:r>
              <a:rPr lang="en-US" dirty="0">
                <a:solidFill>
                  <a:srgbClr val="FFC000"/>
                </a:solidFill>
              </a:rPr>
              <a:t>Example: if population was 5M in 2000 and 6M in 2001 → cumulative = 5M, then 11M.</a:t>
            </a:r>
          </a:p>
          <a:p>
            <a:r>
              <a:rPr lang="en-US" dirty="0"/>
              <a:t>25. </a:t>
            </a:r>
            <a:r>
              <a:rPr lang="en-US" dirty="0" err="1"/>
              <a:t>world_pop</a:t>
            </a:r>
            <a:r>
              <a:rPr lang="en-US" dirty="0"/>
              <a:t> = </a:t>
            </a:r>
            <a:r>
              <a:rPr lang="en-US" dirty="0" err="1"/>
              <a:t>data.groupby</a:t>
            </a:r>
            <a:r>
              <a:rPr lang="en-US" dirty="0"/>
              <a:t>("Year")["Population"].transform("sum"):</a:t>
            </a:r>
            <a:br>
              <a:rPr lang="en-US" dirty="0"/>
            </a:br>
            <a:r>
              <a:rPr lang="en-US" dirty="0">
                <a:solidFill>
                  <a:srgbClr val="FFC000"/>
                </a:solidFill>
              </a:rPr>
              <a:t>Calculates the </a:t>
            </a:r>
            <a:r>
              <a:rPr lang="en-US" b="1" dirty="0">
                <a:solidFill>
                  <a:srgbClr val="FFC000"/>
                </a:solidFill>
              </a:rPr>
              <a:t>total world population per year</a:t>
            </a:r>
            <a:r>
              <a:rPr lang="en-US" dirty="0">
                <a:solidFill>
                  <a:srgbClr val="FFC000"/>
                </a:solidFill>
              </a:rPr>
              <a:t>.</a:t>
            </a:r>
            <a:br>
              <a:rPr lang="ar-EG" dirty="0">
                <a:solidFill>
                  <a:srgbClr val="FFC000"/>
                </a:solidFill>
              </a:rPr>
            </a:br>
            <a:r>
              <a:rPr lang="en-US" dirty="0">
                <a:solidFill>
                  <a:srgbClr val="FFC000"/>
                </a:solidFill>
              </a:rPr>
              <a:t>Transform("sum") keeps the same shape as the original </a:t>
            </a:r>
            <a:r>
              <a:rPr lang="en-US" dirty="0" err="1">
                <a:solidFill>
                  <a:srgbClr val="FFC000"/>
                </a:solidFill>
              </a:rPr>
              <a:t>DataFrame</a:t>
            </a:r>
            <a:r>
              <a:rPr lang="en-US" dirty="0">
                <a:solidFill>
                  <a:srgbClr val="FFC000"/>
                </a:solidFill>
              </a:rPr>
              <a:t> so it can be divided row by row.</a:t>
            </a:r>
            <a:br>
              <a:rPr lang="en-US" dirty="0">
                <a:solidFill>
                  <a:srgbClr val="FFC000"/>
                </a:solidFill>
              </a:rPr>
            </a:br>
            <a:r>
              <a:rPr lang="en-US" dirty="0"/>
              <a:t>26. data["</a:t>
            </a:r>
            <a:r>
              <a:rPr lang="en-US" dirty="0" err="1"/>
              <a:t>World_Share</a:t>
            </a:r>
            <a:r>
              <a:rPr lang="en-US" dirty="0"/>
              <a:t>"] = (data["Population"] / </a:t>
            </a:r>
            <a:r>
              <a:rPr lang="en-US" dirty="0" err="1"/>
              <a:t>world_pop</a:t>
            </a:r>
            <a:r>
              <a:rPr lang="en-US" dirty="0"/>
              <a:t>) * 100 </a:t>
            </a:r>
            <a:br>
              <a:rPr lang="ar-EG" dirty="0"/>
            </a:br>
            <a:br>
              <a:rPr lang="ar-EG" dirty="0"/>
            </a:br>
            <a:br>
              <a:rPr lang="en-US" dirty="0"/>
            </a:br>
            <a:r>
              <a:rPr lang="en-US" dirty="0">
                <a:solidFill>
                  <a:srgbClr val="FFC000"/>
                </a:solidFill>
              </a:rPr>
              <a:t>Calculates each country’s </a:t>
            </a:r>
            <a:r>
              <a:rPr lang="en-US" b="1" dirty="0">
                <a:solidFill>
                  <a:srgbClr val="FFC000"/>
                </a:solidFill>
              </a:rPr>
              <a:t>share of the world population (%)</a:t>
            </a:r>
            <a:r>
              <a:rPr lang="en-US" dirty="0">
                <a:solidFill>
                  <a:srgbClr val="FFC000"/>
                </a:solidFill>
              </a:rPr>
              <a:t> for every year.</a:t>
            </a:r>
            <a:br>
              <a:rPr lang="en-US" dirty="0">
                <a:solidFill>
                  <a:srgbClr val="FFC000"/>
                </a:solidFill>
              </a:rPr>
            </a:br>
            <a:r>
              <a:rPr lang="en-US" dirty="0"/>
              <a:t>27. import </a:t>
            </a:r>
            <a:r>
              <a:rPr lang="en-US" dirty="0" err="1"/>
              <a:t>numpy</a:t>
            </a:r>
            <a:r>
              <a:rPr lang="en-US" dirty="0"/>
              <a:t> as </a:t>
            </a:r>
            <a:r>
              <a:rPr lang="en-US" dirty="0">
                <a:solidFill>
                  <a:schemeClr val="accent3">
                    <a:lumMod val="60000"/>
                    <a:lumOff val="40000"/>
                  </a:schemeClr>
                </a:solidFill>
              </a:rPr>
              <a:t>np : </a:t>
            </a:r>
            <a:br>
              <a:rPr lang="en-US" dirty="0">
                <a:solidFill>
                  <a:srgbClr val="FFC000"/>
                </a:solidFill>
              </a:rPr>
            </a:br>
            <a:r>
              <a:rPr lang="en-US" dirty="0">
                <a:solidFill>
                  <a:srgbClr val="FFC000"/>
                </a:solidFill>
              </a:rPr>
              <a:t>Imports </a:t>
            </a:r>
            <a:r>
              <a:rPr lang="en-US" b="1" dirty="0">
                <a:solidFill>
                  <a:srgbClr val="FFC000"/>
                </a:solidFill>
              </a:rPr>
              <a:t>NumPy</a:t>
            </a:r>
            <a:r>
              <a:rPr lang="en-US" dirty="0">
                <a:solidFill>
                  <a:srgbClr val="FFC000"/>
                </a:solidFill>
              </a:rPr>
              <a:t> for handling numerical operations</a:t>
            </a:r>
            <a:r>
              <a:rPr lang="en-US" dirty="0"/>
              <a:t>.</a:t>
            </a:r>
            <a:br>
              <a:rPr lang="en-US" dirty="0"/>
            </a:br>
            <a:r>
              <a:rPr lang="en-US" dirty="0"/>
              <a:t>28. data = </a:t>
            </a:r>
            <a:r>
              <a:rPr lang="en-US" dirty="0" err="1"/>
              <a:t>data.sort_values</a:t>
            </a:r>
            <a:r>
              <a:rPr lang="en-US" dirty="0"/>
              <a:t>(["</a:t>
            </a:r>
            <a:r>
              <a:rPr lang="en-US" dirty="0" err="1"/>
              <a:t>Country_Code</a:t>
            </a:r>
            <a:r>
              <a:rPr lang="en-US" dirty="0"/>
              <a:t>", "Year"]) : </a:t>
            </a:r>
            <a:br>
              <a:rPr lang="en-US" dirty="0"/>
            </a:br>
            <a:r>
              <a:rPr lang="en-US" dirty="0">
                <a:solidFill>
                  <a:srgbClr val="FFC000"/>
                </a:solidFill>
              </a:rPr>
              <a:t>Sorts the dataset by </a:t>
            </a:r>
            <a:r>
              <a:rPr lang="en-US" b="1" dirty="0">
                <a:solidFill>
                  <a:srgbClr val="FFC000"/>
                </a:solidFill>
              </a:rPr>
              <a:t>country code</a:t>
            </a:r>
            <a:r>
              <a:rPr lang="en-US" dirty="0">
                <a:solidFill>
                  <a:srgbClr val="FFC000"/>
                </a:solidFill>
              </a:rPr>
              <a:t> and </a:t>
            </a:r>
            <a:r>
              <a:rPr lang="en-US" b="1" dirty="0">
                <a:solidFill>
                  <a:srgbClr val="FFC000"/>
                </a:solidFill>
              </a:rPr>
              <a:t>year</a:t>
            </a:r>
            <a:r>
              <a:rPr lang="en-US" dirty="0">
                <a:solidFill>
                  <a:srgbClr val="FFC000"/>
                </a:solidFill>
              </a:rPr>
              <a:t>.</a:t>
            </a:r>
            <a:br>
              <a:rPr lang="en-US" dirty="0">
                <a:solidFill>
                  <a:srgbClr val="FFC000"/>
                </a:solidFill>
              </a:rPr>
            </a:br>
            <a:br>
              <a:rPr lang="en-US" dirty="0"/>
            </a:br>
            <a:r>
              <a:rPr lang="en-US" dirty="0"/>
              <a:t>29. data["</a:t>
            </a:r>
            <a:r>
              <a:rPr lang="en-US" dirty="0" err="1"/>
              <a:t>Population_Change</a:t>
            </a:r>
            <a:r>
              <a:rPr lang="en-US" dirty="0"/>
              <a:t>"] = </a:t>
            </a:r>
            <a:r>
              <a:rPr lang="en-US" dirty="0" err="1"/>
              <a:t>data.groupby</a:t>
            </a:r>
            <a:r>
              <a:rPr lang="en-US" dirty="0"/>
              <a:t>("</a:t>
            </a:r>
            <a:r>
              <a:rPr lang="en-US" dirty="0" err="1"/>
              <a:t>Country_Code</a:t>
            </a:r>
            <a:r>
              <a:rPr lang="en-US" dirty="0"/>
              <a:t>")["Population"].diff() : </a:t>
            </a:r>
            <a:br>
              <a:rPr lang="en-US" dirty="0"/>
            </a:br>
            <a:r>
              <a:rPr lang="en-US" dirty="0">
                <a:solidFill>
                  <a:srgbClr val="FFC000"/>
                </a:solidFill>
              </a:rPr>
              <a:t>Re-calculates the </a:t>
            </a:r>
            <a:r>
              <a:rPr lang="en-US" b="1" dirty="0">
                <a:solidFill>
                  <a:srgbClr val="FFC000"/>
                </a:solidFill>
              </a:rPr>
              <a:t>population change per country</a:t>
            </a:r>
            <a:r>
              <a:rPr lang="en-US" dirty="0">
                <a:solidFill>
                  <a:srgbClr val="FFC000"/>
                </a:solidFill>
              </a:rPr>
              <a:t> year-to-year.</a:t>
            </a:r>
            <a:br>
              <a:rPr lang="en-US" dirty="0">
                <a:solidFill>
                  <a:srgbClr val="FFC000"/>
                </a:solidFill>
              </a:rPr>
            </a:br>
            <a:br>
              <a:rPr lang="en-US" dirty="0"/>
            </a:br>
            <a:r>
              <a:rPr lang="en-US" dirty="0"/>
              <a:t>30. data["</a:t>
            </a:r>
            <a:r>
              <a:rPr lang="en-US" dirty="0" err="1"/>
              <a:t>Population_Growth</a:t>
            </a:r>
            <a:r>
              <a:rPr lang="en-US" dirty="0"/>
              <a:t>"] = </a:t>
            </a:r>
            <a:r>
              <a:rPr lang="en-US" dirty="0" err="1"/>
              <a:t>data.groupby</a:t>
            </a:r>
            <a:r>
              <a:rPr lang="en-US" dirty="0"/>
              <a:t>("</a:t>
            </a:r>
            <a:r>
              <a:rPr lang="en-US" dirty="0" err="1"/>
              <a:t>Country_Code</a:t>
            </a:r>
            <a:r>
              <a:rPr lang="en-US" dirty="0"/>
              <a:t>")["Population"].</a:t>
            </a:r>
            <a:r>
              <a:rPr lang="en-US" dirty="0" err="1"/>
              <a:t>pct_change</a:t>
            </a:r>
            <a:r>
              <a:rPr lang="en-US" dirty="0"/>
              <a:t>() * 100 :</a:t>
            </a:r>
            <a:br>
              <a:rPr lang="en-US" dirty="0"/>
            </a:br>
            <a:r>
              <a:rPr lang="en-US" dirty="0">
                <a:solidFill>
                  <a:srgbClr val="FFC000"/>
                </a:solidFill>
              </a:rPr>
              <a:t>Re-calculates the </a:t>
            </a:r>
            <a:r>
              <a:rPr lang="en-US" b="1" dirty="0">
                <a:solidFill>
                  <a:srgbClr val="FFC000"/>
                </a:solidFill>
              </a:rPr>
              <a:t>percentage population growth</a:t>
            </a:r>
            <a:r>
              <a:rPr lang="en-US" dirty="0">
                <a:solidFill>
                  <a:srgbClr val="FFC000"/>
                </a:solidFill>
              </a:rPr>
              <a:t> year-to-year per country.</a:t>
            </a:r>
            <a:br>
              <a:rPr lang="en-US" dirty="0">
                <a:solidFill>
                  <a:srgbClr val="FFC000"/>
                </a:solidFill>
              </a:rPr>
            </a:br>
            <a:br>
              <a:rPr lang="en-US" dirty="0"/>
            </a:br>
            <a:r>
              <a:rPr lang="en-US" dirty="0"/>
              <a:t>31. data["</a:t>
            </a:r>
            <a:r>
              <a:rPr lang="en-US" dirty="0" err="1"/>
              <a:t>Is_Growing</a:t>
            </a:r>
            <a:r>
              <a:rPr lang="en-US" dirty="0"/>
              <a:t>"] = data["</a:t>
            </a:r>
            <a:r>
              <a:rPr lang="en-US" dirty="0" err="1"/>
              <a:t>Population_Change</a:t>
            </a:r>
            <a:r>
              <a:rPr lang="en-US" dirty="0"/>
              <a:t>"].apply(lambda x: "Yes" if x &gt; 0 else ("No" if x &lt; 0 else "Stable")): </a:t>
            </a:r>
            <a:br>
              <a:rPr lang="en-US" dirty="0"/>
            </a:br>
            <a:r>
              <a:rPr lang="en-US" dirty="0">
                <a:solidFill>
                  <a:srgbClr val="FFC000"/>
                </a:solidFill>
              </a:rPr>
              <a:t>Final version of the </a:t>
            </a:r>
            <a:r>
              <a:rPr lang="en-US" b="1" dirty="0" err="1">
                <a:solidFill>
                  <a:srgbClr val="FFC000"/>
                </a:solidFill>
              </a:rPr>
              <a:t>Is_Growing</a:t>
            </a:r>
            <a:r>
              <a:rPr lang="en-US" b="1" dirty="0">
                <a:solidFill>
                  <a:srgbClr val="FFC000"/>
                </a:solidFill>
              </a:rPr>
              <a:t> column</a:t>
            </a:r>
            <a:r>
              <a:rPr lang="en-US" dirty="0">
                <a:solidFill>
                  <a:srgbClr val="FFC000"/>
                </a:solidFill>
              </a:rPr>
              <a:t>.</a:t>
            </a:r>
          </a:p>
        </p:txBody>
      </p:sp>
    </p:spTree>
    <p:extLst>
      <p:ext uri="{BB962C8B-B14F-4D97-AF65-F5344CB8AC3E}">
        <p14:creationId xmlns:p14="http://schemas.microsoft.com/office/powerpoint/2010/main" val="1682252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82826-D8B4-1C55-6B9C-20AD5EA50E28}"/>
              </a:ext>
            </a:extLst>
          </p:cNvPr>
          <p:cNvSpPr>
            <a:spLocks noGrp="1"/>
          </p:cNvSpPr>
          <p:nvPr>
            <p:ph type="title"/>
          </p:nvPr>
        </p:nvSpPr>
        <p:spPr/>
        <p:txBody>
          <a:bodyPr/>
          <a:lstStyle/>
          <a:p>
            <a:r>
              <a:rPr lang="en-US" dirty="0">
                <a:solidFill>
                  <a:srgbClr val="FFC000"/>
                </a:solidFill>
              </a:rPr>
              <a:t>The data shape after the </a:t>
            </a:r>
            <a:r>
              <a:rPr lang="en-US" dirty="0" err="1">
                <a:solidFill>
                  <a:srgbClr val="FFC000"/>
                </a:solidFill>
              </a:rPr>
              <a:t>cleanibg</a:t>
            </a:r>
            <a:r>
              <a:rPr lang="en-US" dirty="0">
                <a:solidFill>
                  <a:srgbClr val="FFC000"/>
                </a:solidFill>
              </a:rPr>
              <a:t> process</a:t>
            </a:r>
          </a:p>
        </p:txBody>
      </p:sp>
      <p:pic>
        <p:nvPicPr>
          <p:cNvPr id="5" name="Content Placeholder 4">
            <a:extLst>
              <a:ext uri="{FF2B5EF4-FFF2-40B4-BE49-F238E27FC236}">
                <a16:creationId xmlns:a16="http://schemas.microsoft.com/office/drawing/2014/main" id="{A13788D4-6F2C-14D7-1E18-C6D77AC21F7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5357" y="1731963"/>
            <a:ext cx="10171761" cy="4059237"/>
          </a:xfrm>
        </p:spPr>
      </p:pic>
    </p:spTree>
    <p:extLst>
      <p:ext uri="{BB962C8B-B14F-4D97-AF65-F5344CB8AC3E}">
        <p14:creationId xmlns:p14="http://schemas.microsoft.com/office/powerpoint/2010/main" val="41051082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D08FB-6A11-2A00-26C1-D8AC6845BF7D}"/>
              </a:ext>
            </a:extLst>
          </p:cNvPr>
          <p:cNvSpPr>
            <a:spLocks noGrp="1"/>
          </p:cNvSpPr>
          <p:nvPr>
            <p:ph type="title"/>
          </p:nvPr>
        </p:nvSpPr>
        <p:spPr>
          <a:xfrm>
            <a:off x="913795" y="96350"/>
            <a:ext cx="10353762" cy="970450"/>
          </a:xfrm>
        </p:spPr>
        <p:txBody>
          <a:bodyPr>
            <a:normAutofit fontScale="90000"/>
          </a:bodyPr>
          <a:lstStyle/>
          <a:p>
            <a:r>
              <a:rPr lang="en-US" dirty="0">
                <a:solidFill>
                  <a:schemeClr val="accent3">
                    <a:lumMod val="60000"/>
                    <a:lumOff val="40000"/>
                  </a:schemeClr>
                </a:solidFill>
              </a:rPr>
              <a:t>Next step </a:t>
            </a:r>
            <a:r>
              <a:rPr lang="en-US" dirty="0">
                <a:solidFill>
                  <a:schemeClr val="accent3">
                    <a:lumMod val="60000"/>
                    <a:lumOff val="40000"/>
                  </a:schemeClr>
                </a:solidFill>
                <a:effectLst/>
                <a:latin typeface="quote-cjk-patch"/>
              </a:rPr>
              <a:t>a</a:t>
            </a:r>
            <a:r>
              <a:rPr lang="en-US" b="0" i="0" dirty="0">
                <a:solidFill>
                  <a:schemeClr val="accent3">
                    <a:lumMod val="60000"/>
                    <a:lumOff val="40000"/>
                  </a:schemeClr>
                </a:solidFill>
                <a:effectLst/>
                <a:latin typeface="quote-cjk-patch"/>
              </a:rPr>
              <a:t>fter cleaning the data and adding new calculated columns, the next crucial phase is </a:t>
            </a:r>
            <a:r>
              <a:rPr lang="en-US" dirty="0">
                <a:solidFill>
                  <a:schemeClr val="accent3">
                    <a:lumMod val="60000"/>
                    <a:lumOff val="40000"/>
                  </a:schemeClr>
                </a:solidFill>
              </a:rPr>
              <a:t>:</a:t>
            </a:r>
          </a:p>
        </p:txBody>
      </p:sp>
      <p:sp>
        <p:nvSpPr>
          <p:cNvPr id="7" name="Content Placeholder 6">
            <a:extLst>
              <a:ext uri="{FF2B5EF4-FFF2-40B4-BE49-F238E27FC236}">
                <a16:creationId xmlns:a16="http://schemas.microsoft.com/office/drawing/2014/main" id="{70BB8FEB-E4CC-F9B6-0A6B-E3D383B2D9D2}"/>
              </a:ext>
            </a:extLst>
          </p:cNvPr>
          <p:cNvSpPr>
            <a:spLocks noGrp="1"/>
          </p:cNvSpPr>
          <p:nvPr>
            <p:ph idx="1"/>
          </p:nvPr>
        </p:nvSpPr>
        <p:spPr>
          <a:xfrm>
            <a:off x="242596" y="1203649"/>
            <a:ext cx="11728580" cy="5458408"/>
          </a:xfrm>
        </p:spPr>
        <p:txBody>
          <a:bodyPr/>
          <a:lstStyle/>
          <a:p>
            <a:pPr algn="l"/>
            <a:r>
              <a:rPr lang="en-US" dirty="0"/>
              <a:t>Data visualization:</a:t>
            </a:r>
            <a:br>
              <a:rPr lang="en-US" dirty="0"/>
            </a:br>
            <a:r>
              <a:rPr lang="en-US" b="1" dirty="0">
                <a:solidFill>
                  <a:srgbClr val="FFC000"/>
                </a:solidFill>
                <a:effectLst/>
                <a:latin typeface="quote-cjk-patch"/>
              </a:rPr>
              <a:t>What is Data Visualization?</a:t>
            </a:r>
          </a:p>
          <a:p>
            <a:pPr algn="l"/>
            <a:r>
              <a:rPr lang="en-US" b="1" i="0" dirty="0">
                <a:solidFill>
                  <a:srgbClr val="FFC000"/>
                </a:solidFill>
                <a:effectLst/>
                <a:latin typeface="quote-cjk-patch"/>
              </a:rPr>
              <a:t>Data Visualization</a:t>
            </a:r>
            <a:r>
              <a:rPr lang="en-US" b="0" i="0" dirty="0">
                <a:solidFill>
                  <a:srgbClr val="FFC000"/>
                </a:solidFill>
                <a:effectLst/>
                <a:latin typeface="quote-cjk-patch"/>
              </a:rPr>
              <a:t> is the art and science of representing information and data graphically. It uses visual elements like charts, graphs, and maps to communicate complex data relationships in a way that is </a:t>
            </a:r>
            <a:r>
              <a:rPr lang="en-US" b="1" i="0" dirty="0">
                <a:solidFill>
                  <a:srgbClr val="FFC000"/>
                </a:solidFill>
                <a:effectLst/>
                <a:latin typeface="quote-cjk-patch"/>
              </a:rPr>
              <a:t>intuitive, understandable, and actionable</a:t>
            </a:r>
            <a:r>
              <a:rPr lang="en-US" b="0" i="0" dirty="0">
                <a:solidFill>
                  <a:srgbClr val="FFC000"/>
                </a:solidFill>
                <a:effectLst/>
                <a:latin typeface="quote-cjk-patch"/>
              </a:rPr>
              <a:t>.</a:t>
            </a:r>
          </a:p>
          <a:p>
            <a:pPr algn="l"/>
            <a:r>
              <a:rPr lang="en-US" b="0" i="0" dirty="0">
                <a:solidFill>
                  <a:srgbClr val="FFC000"/>
                </a:solidFill>
                <a:effectLst/>
                <a:latin typeface="quote-cjk-patch"/>
              </a:rPr>
              <a:t>Think of it as translating a spreadsheet full of numbers into a universal visual language. The goal is to:</a:t>
            </a:r>
          </a:p>
          <a:p>
            <a:pPr algn="l">
              <a:buFont typeface="Arial" panose="020B0604020202020204" pitchFamily="34" charset="0"/>
              <a:buChar char="•"/>
            </a:pPr>
            <a:r>
              <a:rPr lang="en-US" b="1" i="0" dirty="0">
                <a:solidFill>
                  <a:srgbClr val="FFC000"/>
                </a:solidFill>
                <a:effectLst/>
                <a:latin typeface="quote-cjk-patch"/>
              </a:rPr>
              <a:t>Reveal Patterns and Trends:</a:t>
            </a:r>
            <a:r>
              <a:rPr lang="en-US" b="0" i="0" dirty="0">
                <a:solidFill>
                  <a:srgbClr val="FFC000"/>
                </a:solidFill>
                <a:effectLst/>
                <a:latin typeface="quote-cjk-patch"/>
              </a:rPr>
              <a:t> Spot insights that are difficult to see in raw tables (e.g., a sudden population spike, a declining growth rate).</a:t>
            </a:r>
          </a:p>
          <a:p>
            <a:pPr algn="l">
              <a:buFont typeface="Arial" panose="020B0604020202020204" pitchFamily="34" charset="0"/>
              <a:buChar char="•"/>
            </a:pPr>
            <a:r>
              <a:rPr lang="en-US" b="1" i="0" dirty="0">
                <a:solidFill>
                  <a:srgbClr val="FFC000"/>
                </a:solidFill>
                <a:effectLst/>
                <a:latin typeface="quote-cjk-patch"/>
              </a:rPr>
              <a:t>Tell a Story:</a:t>
            </a:r>
            <a:r>
              <a:rPr lang="en-US" b="0" i="0" dirty="0">
                <a:solidFill>
                  <a:srgbClr val="FFC000"/>
                </a:solidFill>
                <a:effectLst/>
                <a:latin typeface="quote-cjk-patch"/>
              </a:rPr>
              <a:t> Weave data points into a compelling narrative about what is happening and why.</a:t>
            </a:r>
          </a:p>
          <a:p>
            <a:pPr algn="l">
              <a:buFont typeface="Arial" panose="020B0604020202020204" pitchFamily="34" charset="0"/>
              <a:buChar char="•"/>
            </a:pPr>
            <a:r>
              <a:rPr lang="en-US" b="1" i="0" dirty="0">
                <a:solidFill>
                  <a:srgbClr val="FFC000"/>
                </a:solidFill>
                <a:effectLst/>
                <a:latin typeface="quote-cjk-patch"/>
              </a:rPr>
              <a:t>Support Decision-Making:</a:t>
            </a:r>
            <a:r>
              <a:rPr lang="en-US" b="0" i="0" dirty="0">
                <a:solidFill>
                  <a:srgbClr val="FFC000"/>
                </a:solidFill>
                <a:effectLst/>
                <a:latin typeface="quote-cjk-patch"/>
              </a:rPr>
              <a:t> Provide a clear, evidence-based foundation for strategic choices.</a:t>
            </a:r>
          </a:p>
          <a:p>
            <a:pPr algn="l">
              <a:buFont typeface="Arial" panose="020B0604020202020204" pitchFamily="34" charset="0"/>
              <a:buChar char="•"/>
            </a:pPr>
            <a:r>
              <a:rPr lang="en-US" b="1" i="0" dirty="0">
                <a:solidFill>
                  <a:srgbClr val="FFC000"/>
                </a:solidFill>
                <a:effectLst/>
                <a:latin typeface="quote-cjk-patch"/>
              </a:rPr>
              <a:t>Answer Business Questions Quickly:</a:t>
            </a:r>
            <a:r>
              <a:rPr lang="en-US" b="0" i="0" dirty="0">
                <a:solidFill>
                  <a:srgbClr val="FFC000"/>
                </a:solidFill>
                <a:effectLst/>
                <a:latin typeface="quote-cjk-patch"/>
              </a:rPr>
              <a:t> Allow viewers to grasp the key takeaways at a glance.</a:t>
            </a:r>
          </a:p>
          <a:p>
            <a:r>
              <a:rPr lang="en-US" dirty="0"/>
              <a:t>And we did </a:t>
            </a:r>
            <a:r>
              <a:rPr lang="en-US" dirty="0" err="1"/>
              <a:t>thid</a:t>
            </a:r>
            <a:r>
              <a:rPr lang="en-US" dirty="0"/>
              <a:t> process using </a:t>
            </a:r>
            <a:r>
              <a:rPr lang="ar-EG" dirty="0"/>
              <a:t>)</a:t>
            </a:r>
            <a:r>
              <a:rPr lang="en-US" dirty="0"/>
              <a:t>Bower BI).</a:t>
            </a:r>
          </a:p>
        </p:txBody>
      </p:sp>
    </p:spTree>
    <p:extLst>
      <p:ext uri="{BB962C8B-B14F-4D97-AF65-F5344CB8AC3E}">
        <p14:creationId xmlns:p14="http://schemas.microsoft.com/office/powerpoint/2010/main" val="3528131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B6CA5E-12E8-D7AD-8F5A-D945F8895258}"/>
              </a:ext>
            </a:extLst>
          </p:cNvPr>
          <p:cNvSpPr>
            <a:spLocks noGrp="1"/>
          </p:cNvSpPr>
          <p:nvPr>
            <p:ph idx="1"/>
          </p:nvPr>
        </p:nvSpPr>
        <p:spPr>
          <a:xfrm>
            <a:off x="0" y="0"/>
            <a:ext cx="12191999" cy="6792685"/>
          </a:xfrm>
        </p:spPr>
        <p:txBody>
          <a:bodyPr>
            <a:normAutofit/>
          </a:bodyPr>
          <a:lstStyle/>
          <a:p>
            <a:r>
              <a:rPr lang="en-US" sz="3600" dirty="0"/>
              <a:t>But before visualization we must know what is the data </a:t>
            </a:r>
            <a:r>
              <a:rPr lang="en-US" sz="3600" dirty="0" err="1"/>
              <a:t>tha</a:t>
            </a:r>
            <a:r>
              <a:rPr lang="en-US" sz="3600" dirty="0"/>
              <a:t> we will visualize and how we do that ?</a:t>
            </a:r>
            <a:br>
              <a:rPr lang="en-US" sz="3600" dirty="0"/>
            </a:br>
            <a:r>
              <a:rPr lang="en-US" sz="1800" dirty="0">
                <a:solidFill>
                  <a:srgbClr val="FFC000"/>
                </a:solidFill>
              </a:rPr>
              <a:t>First step we ask questions </a:t>
            </a:r>
            <a:r>
              <a:rPr lang="en-US" sz="1800" dirty="0" err="1">
                <a:solidFill>
                  <a:srgbClr val="FFC000"/>
                </a:solidFill>
              </a:rPr>
              <a:t>sabout</a:t>
            </a:r>
            <a:r>
              <a:rPr lang="en-US" sz="1800" dirty="0">
                <a:solidFill>
                  <a:srgbClr val="FFC000"/>
                </a:solidFill>
              </a:rPr>
              <a:t> the data topic and search for its answers :</a:t>
            </a:r>
            <a:br>
              <a:rPr lang="en-US" sz="1800" dirty="0">
                <a:solidFill>
                  <a:srgbClr val="FFC000"/>
                </a:solidFill>
              </a:rPr>
            </a:br>
            <a:r>
              <a:rPr lang="en-US" sz="1800" dirty="0">
                <a:solidFill>
                  <a:srgbClr val="FFC000"/>
                </a:solidFill>
              </a:rPr>
              <a:t>1.What is the average of population change?</a:t>
            </a:r>
            <a:br>
              <a:rPr lang="en-US" sz="1800" dirty="0">
                <a:solidFill>
                  <a:srgbClr val="FFC000"/>
                </a:solidFill>
              </a:rPr>
            </a:br>
            <a:r>
              <a:rPr lang="en-US" sz="1800" dirty="0">
                <a:solidFill>
                  <a:srgbClr val="FFC000"/>
                </a:solidFill>
              </a:rPr>
              <a:t>2. What is the average of population growth?</a:t>
            </a:r>
            <a:br>
              <a:rPr lang="en-US" sz="1800" dirty="0">
                <a:solidFill>
                  <a:srgbClr val="FFC000"/>
                </a:solidFill>
              </a:rPr>
            </a:br>
            <a:r>
              <a:rPr lang="en-US" sz="1800" dirty="0">
                <a:solidFill>
                  <a:srgbClr val="FFC000"/>
                </a:solidFill>
              </a:rPr>
              <a:t>3.What is the sum of the cumulative population?</a:t>
            </a:r>
            <a:br>
              <a:rPr lang="en-US" sz="1800" dirty="0">
                <a:solidFill>
                  <a:srgbClr val="FFC000"/>
                </a:solidFill>
              </a:rPr>
            </a:br>
            <a:r>
              <a:rPr lang="en-US" sz="1800" dirty="0">
                <a:solidFill>
                  <a:srgbClr val="FFC000"/>
                </a:solidFill>
              </a:rPr>
              <a:t>4.What is the lowest countries in world share ?</a:t>
            </a:r>
            <a:br>
              <a:rPr lang="en-US" sz="1800" dirty="0">
                <a:solidFill>
                  <a:srgbClr val="FFC000"/>
                </a:solidFill>
              </a:rPr>
            </a:br>
            <a:r>
              <a:rPr lang="en-US" sz="1800" dirty="0">
                <a:solidFill>
                  <a:srgbClr val="FFC000"/>
                </a:solidFill>
              </a:rPr>
              <a:t>5.Top 5 countries by total population .</a:t>
            </a:r>
            <a:br>
              <a:rPr lang="en-US" sz="1800" dirty="0">
                <a:solidFill>
                  <a:srgbClr val="FFC000"/>
                </a:solidFill>
              </a:rPr>
            </a:br>
            <a:r>
              <a:rPr lang="en-US" sz="1800" dirty="0">
                <a:solidFill>
                  <a:srgbClr val="FFC000"/>
                </a:solidFill>
              </a:rPr>
              <a:t>6.Highest decade in in population growth.</a:t>
            </a:r>
            <a:br>
              <a:rPr lang="en-US" sz="1800" dirty="0">
                <a:solidFill>
                  <a:srgbClr val="FFC000"/>
                </a:solidFill>
              </a:rPr>
            </a:br>
            <a:r>
              <a:rPr lang="en-US" sz="1800" dirty="0">
                <a:solidFill>
                  <a:srgbClr val="FFC000"/>
                </a:solidFill>
              </a:rPr>
              <a:t>7. Highest decade in in population change</a:t>
            </a:r>
            <a:br>
              <a:rPr lang="en-US" sz="1800" dirty="0">
                <a:solidFill>
                  <a:srgbClr val="FFC000"/>
                </a:solidFill>
              </a:rPr>
            </a:br>
            <a:r>
              <a:rPr lang="en-US" sz="1800" dirty="0">
                <a:solidFill>
                  <a:srgbClr val="FFC000"/>
                </a:solidFill>
              </a:rPr>
              <a:t>8.average world share .</a:t>
            </a:r>
            <a:br>
              <a:rPr lang="en-US" sz="1800" dirty="0">
                <a:solidFill>
                  <a:srgbClr val="FFC000"/>
                </a:solidFill>
              </a:rPr>
            </a:br>
            <a:r>
              <a:rPr lang="en-US" sz="1800" dirty="0">
                <a:solidFill>
                  <a:srgbClr val="FFC000"/>
                </a:solidFill>
              </a:rPr>
              <a:t>9 top year in population growth and change</a:t>
            </a:r>
            <a:br>
              <a:rPr lang="en-US" sz="1800" dirty="0">
                <a:solidFill>
                  <a:srgbClr val="FFC000"/>
                </a:solidFill>
              </a:rPr>
            </a:br>
            <a:r>
              <a:rPr lang="en-US" sz="1800" dirty="0">
                <a:solidFill>
                  <a:srgbClr val="FFC000"/>
                </a:solidFill>
              </a:rPr>
              <a:t>10. Highest country  in rank……</a:t>
            </a:r>
            <a:br>
              <a:rPr lang="en-US" sz="1800" dirty="0">
                <a:solidFill>
                  <a:srgbClr val="FFC000"/>
                </a:solidFill>
              </a:rPr>
            </a:br>
            <a:br>
              <a:rPr lang="en-US" sz="1800" dirty="0">
                <a:solidFill>
                  <a:srgbClr val="FFC000"/>
                </a:solidFill>
              </a:rPr>
            </a:br>
            <a:r>
              <a:rPr lang="en-US" sz="1800" dirty="0">
                <a:solidFill>
                  <a:srgbClr val="FFC000"/>
                </a:solidFill>
              </a:rPr>
              <a:t>And there is much more Question you can ask ……..</a:t>
            </a:r>
            <a:br>
              <a:rPr lang="en-US" sz="1800" dirty="0">
                <a:solidFill>
                  <a:srgbClr val="FFC000"/>
                </a:solidFill>
              </a:rPr>
            </a:br>
            <a:br>
              <a:rPr lang="en-US" sz="1800" dirty="0">
                <a:solidFill>
                  <a:srgbClr val="FFC000"/>
                </a:solidFill>
              </a:rPr>
            </a:br>
            <a:endParaRPr lang="en-US" sz="1800" dirty="0">
              <a:solidFill>
                <a:srgbClr val="FFC000"/>
              </a:solidFill>
            </a:endParaRPr>
          </a:p>
        </p:txBody>
      </p:sp>
      <p:sp>
        <p:nvSpPr>
          <p:cNvPr id="4" name="Hexagon 3">
            <a:extLst>
              <a:ext uri="{FF2B5EF4-FFF2-40B4-BE49-F238E27FC236}">
                <a16:creationId xmlns:a16="http://schemas.microsoft.com/office/drawing/2014/main" id="{3DBA72EB-28B6-7025-0D30-E3303D219CB5}"/>
              </a:ext>
            </a:extLst>
          </p:cNvPr>
          <p:cNvSpPr/>
          <p:nvPr/>
        </p:nvSpPr>
        <p:spPr>
          <a:xfrm rot="1885740">
            <a:off x="7978717" y="1736488"/>
            <a:ext cx="2855133" cy="2440112"/>
          </a:xfrm>
          <a:prstGeom prst="hexagon">
            <a:avLst/>
          </a:prstGeom>
          <a:blipFill dpi="0" rotWithShape="0">
            <a:blip r:embed="rId2"/>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99980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FFA8A-8D5E-0B2E-AFCD-1FF486AA2A3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C136F194-1A7F-1975-FD2E-426C4E0EDA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3822" y="448453"/>
            <a:ext cx="10913707" cy="6138960"/>
          </a:xfrm>
        </p:spPr>
      </p:pic>
    </p:spTree>
    <p:extLst>
      <p:ext uri="{BB962C8B-B14F-4D97-AF65-F5344CB8AC3E}">
        <p14:creationId xmlns:p14="http://schemas.microsoft.com/office/powerpoint/2010/main" val="9906909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E04AD-DF14-D969-9FF7-BB1FEE44F088}"/>
              </a:ext>
            </a:extLst>
          </p:cNvPr>
          <p:cNvSpPr>
            <a:spLocks noGrp="1"/>
          </p:cNvSpPr>
          <p:nvPr>
            <p:ph type="title"/>
          </p:nvPr>
        </p:nvSpPr>
        <p:spPr/>
        <p:txBody>
          <a:bodyPr/>
          <a:lstStyle/>
          <a:p>
            <a:endParaRPr lang="en-US"/>
          </a:p>
        </p:txBody>
      </p:sp>
      <p:pic>
        <p:nvPicPr>
          <p:cNvPr id="5" name="Content Placeholder 4" descr="A screenshot of a graph&#10;&#10;AI-generated content may be incorrect.">
            <a:extLst>
              <a:ext uri="{FF2B5EF4-FFF2-40B4-BE49-F238E27FC236}">
                <a16:creationId xmlns:a16="http://schemas.microsoft.com/office/drawing/2014/main" id="{E2CE2E96-82D9-5D97-190A-C9F4ACF38A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1867" y="304800"/>
            <a:ext cx="11108266" cy="6248399"/>
          </a:xfrm>
        </p:spPr>
      </p:pic>
    </p:spTree>
    <p:extLst>
      <p:ext uri="{BB962C8B-B14F-4D97-AF65-F5344CB8AC3E}">
        <p14:creationId xmlns:p14="http://schemas.microsoft.com/office/powerpoint/2010/main" val="37160904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DBA368F-A6B2-9E83-BD05-7ACD3196E23A}"/>
              </a:ext>
            </a:extLst>
          </p:cNvPr>
          <p:cNvSpPr/>
          <p:nvPr/>
        </p:nvSpPr>
        <p:spPr>
          <a:xfrm>
            <a:off x="223935" y="106362"/>
            <a:ext cx="2286000" cy="1502229"/>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1.Average of population change </a:t>
            </a:r>
            <a:br>
              <a:rPr lang="en-US" dirty="0"/>
            </a:br>
            <a:r>
              <a:rPr lang="en-US" dirty="0">
                <a:solidFill>
                  <a:srgbClr val="FFC000"/>
                </a:solidFill>
              </a:rPr>
              <a:t>21316846818</a:t>
            </a:r>
          </a:p>
        </p:txBody>
      </p:sp>
      <p:pic>
        <p:nvPicPr>
          <p:cNvPr id="7" name="Content Placeholder 5" descr="Bar chart with solid fill">
            <a:extLst>
              <a:ext uri="{FF2B5EF4-FFF2-40B4-BE49-F238E27FC236}">
                <a16:creationId xmlns:a16="http://schemas.microsoft.com/office/drawing/2014/main" id="{883FE13D-E64F-BF79-3BCC-DFCE3ED1CB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3935" y="219059"/>
            <a:ext cx="569168" cy="447131"/>
          </a:xfrm>
          <a:prstGeom prst="rect">
            <a:avLst/>
          </a:prstGeom>
          <a:effectLst>
            <a:outerShdw blurRad="25400" dir="17880000">
              <a:srgbClr val="000000">
                <a:alpha val="46000"/>
              </a:srgbClr>
            </a:outerShdw>
          </a:effectLst>
        </p:spPr>
      </p:pic>
      <p:sp>
        <p:nvSpPr>
          <p:cNvPr id="12" name="Content Placeholder 11">
            <a:extLst>
              <a:ext uri="{FF2B5EF4-FFF2-40B4-BE49-F238E27FC236}">
                <a16:creationId xmlns:a16="http://schemas.microsoft.com/office/drawing/2014/main" id="{A4299DE2-1CBC-234E-D045-8DDAEB0439BA}"/>
              </a:ext>
            </a:extLst>
          </p:cNvPr>
          <p:cNvSpPr>
            <a:spLocks noGrp="1"/>
          </p:cNvSpPr>
          <p:nvPr>
            <p:ph idx="1"/>
          </p:nvPr>
        </p:nvSpPr>
        <p:spPr>
          <a:xfrm>
            <a:off x="3125949" y="219059"/>
            <a:ext cx="2907846" cy="1263164"/>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2.Average of </a:t>
            </a:r>
            <a:r>
              <a:rPr lang="en-US" dirty="0" err="1"/>
              <a:t>populationGrowth</a:t>
            </a:r>
            <a:br>
              <a:rPr lang="en-US" dirty="0"/>
            </a:br>
            <a:r>
              <a:rPr lang="en-US" dirty="0">
                <a:solidFill>
                  <a:srgbClr val="FFC000"/>
                </a:solidFill>
              </a:rPr>
              <a:t>1.32</a:t>
            </a:r>
          </a:p>
        </p:txBody>
      </p:sp>
      <p:pic>
        <p:nvPicPr>
          <p:cNvPr id="14" name="Graphic 13" descr="Bar graph with upward trend with solid fill">
            <a:extLst>
              <a:ext uri="{FF2B5EF4-FFF2-40B4-BE49-F238E27FC236}">
                <a16:creationId xmlns:a16="http://schemas.microsoft.com/office/drawing/2014/main" id="{A91E83CC-E659-0C58-5D02-6619AB514AB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25949" y="219059"/>
            <a:ext cx="631371" cy="631371"/>
          </a:xfrm>
          <a:prstGeom prst="rect">
            <a:avLst/>
          </a:prstGeom>
        </p:spPr>
      </p:pic>
      <p:sp>
        <p:nvSpPr>
          <p:cNvPr id="15" name="Rectangle: Rounded Corners 14">
            <a:extLst>
              <a:ext uri="{FF2B5EF4-FFF2-40B4-BE49-F238E27FC236}">
                <a16:creationId xmlns:a16="http://schemas.microsoft.com/office/drawing/2014/main" id="{9DEA0300-BF91-81C2-DAE5-B99CF7A534E2}"/>
              </a:ext>
            </a:extLst>
          </p:cNvPr>
          <p:cNvSpPr/>
          <p:nvPr/>
        </p:nvSpPr>
        <p:spPr>
          <a:xfrm>
            <a:off x="6649809" y="115693"/>
            <a:ext cx="2286000" cy="1502229"/>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3.Sum of cumulative population</a:t>
            </a:r>
            <a:br>
              <a:rPr lang="en-US" dirty="0"/>
            </a:br>
            <a:r>
              <a:rPr lang="en-US" dirty="0">
                <a:solidFill>
                  <a:srgbClr val="FFC000"/>
                </a:solidFill>
              </a:rPr>
              <a:t>2813054545078</a:t>
            </a:r>
          </a:p>
        </p:txBody>
      </p:sp>
      <p:pic>
        <p:nvPicPr>
          <p:cNvPr id="17" name="Graphic 16" descr="Upward trend with solid fill">
            <a:extLst>
              <a:ext uri="{FF2B5EF4-FFF2-40B4-BE49-F238E27FC236}">
                <a16:creationId xmlns:a16="http://schemas.microsoft.com/office/drawing/2014/main" id="{36091917-63BE-D5A2-36EF-C79C51F1552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15124" y="115693"/>
            <a:ext cx="527180" cy="416152"/>
          </a:xfrm>
          <a:prstGeom prst="rect">
            <a:avLst/>
          </a:prstGeom>
        </p:spPr>
      </p:pic>
      <p:sp>
        <p:nvSpPr>
          <p:cNvPr id="19" name="TextBox 18">
            <a:extLst>
              <a:ext uri="{FF2B5EF4-FFF2-40B4-BE49-F238E27FC236}">
                <a16:creationId xmlns:a16="http://schemas.microsoft.com/office/drawing/2014/main" id="{8BE1799A-854B-9322-D6EE-8A3E896FEAD5}"/>
              </a:ext>
            </a:extLst>
          </p:cNvPr>
          <p:cNvSpPr txBox="1"/>
          <p:nvPr/>
        </p:nvSpPr>
        <p:spPr>
          <a:xfrm>
            <a:off x="158620" y="1721288"/>
            <a:ext cx="12033379" cy="3693319"/>
          </a:xfrm>
          <a:prstGeom prst="rect">
            <a:avLst/>
          </a:prstGeom>
          <a:noFill/>
        </p:spPr>
        <p:txBody>
          <a:bodyPr wrap="square" rtlCol="0">
            <a:spAutoFit/>
          </a:bodyPr>
          <a:lstStyle/>
          <a:p>
            <a:r>
              <a:rPr lang="en-US" dirty="0"/>
              <a:t>4.The lowest 10 countries in world share from is :</a:t>
            </a:r>
            <a:br>
              <a:rPr lang="en-US" dirty="0"/>
            </a:br>
            <a:r>
              <a:rPr lang="en-US" dirty="0"/>
              <a:t>1).Sint martin (</a:t>
            </a:r>
            <a:r>
              <a:rPr lang="en-US" dirty="0" err="1"/>
              <a:t>dutch</a:t>
            </a:r>
            <a:r>
              <a:rPr lang="en-US" dirty="0"/>
              <a:t> part) 0.65bn</a:t>
            </a:r>
            <a:br>
              <a:rPr lang="en-US" dirty="0"/>
            </a:br>
            <a:r>
              <a:rPr lang="en-US" dirty="0"/>
              <a:t>2).Monaco 0.46 bn</a:t>
            </a:r>
            <a:br>
              <a:rPr lang="en-US" dirty="0"/>
            </a:br>
            <a:r>
              <a:rPr lang="en-US" dirty="0"/>
              <a:t>3). Sint martin (French part) 0.34bn</a:t>
            </a:r>
            <a:br>
              <a:rPr lang="en-US" dirty="0"/>
            </a:br>
            <a:r>
              <a:rPr lang="en-US" dirty="0"/>
              <a:t>4).Turks &amp; </a:t>
            </a:r>
            <a:r>
              <a:rPr lang="en-US" dirty="0" err="1"/>
              <a:t>Ciacos</a:t>
            </a:r>
            <a:r>
              <a:rPr lang="en-US" dirty="0"/>
              <a:t> island 0.18bn</a:t>
            </a:r>
            <a:br>
              <a:rPr lang="en-US" dirty="0"/>
            </a:br>
            <a:r>
              <a:rPr lang="en-US" dirty="0"/>
              <a:t>5).Gibraltar 0.9bn</a:t>
            </a:r>
            <a:br>
              <a:rPr lang="en-US" dirty="0"/>
            </a:br>
            <a:r>
              <a:rPr lang="en-US" dirty="0"/>
              <a:t>6).San Marino 0.8bn</a:t>
            </a:r>
            <a:br>
              <a:rPr lang="en-US" dirty="0"/>
            </a:br>
            <a:r>
              <a:rPr lang="en-US" dirty="0"/>
              <a:t>7).British Virgin island 0.</a:t>
            </a:r>
            <a:br>
              <a:rPr lang="en-US" dirty="0"/>
            </a:br>
            <a:r>
              <a:rPr lang="en-US" dirty="0"/>
              <a:t>8).Palau</a:t>
            </a:r>
            <a:br>
              <a:rPr lang="en-US" dirty="0"/>
            </a:br>
            <a:r>
              <a:rPr lang="en-US" dirty="0"/>
              <a:t>9).Nauru</a:t>
            </a:r>
            <a:br>
              <a:rPr lang="en-US" dirty="0"/>
            </a:br>
            <a:r>
              <a:rPr lang="en-US" dirty="0"/>
              <a:t>10).Tuvalu</a:t>
            </a:r>
            <a:br>
              <a:rPr lang="en-US" dirty="0"/>
            </a:br>
            <a:br>
              <a:rPr lang="en-US" dirty="0"/>
            </a:br>
            <a:endParaRPr lang="en-US" dirty="0"/>
          </a:p>
        </p:txBody>
      </p:sp>
      <p:sp>
        <p:nvSpPr>
          <p:cNvPr id="2" name="Hexagon 1">
            <a:extLst>
              <a:ext uri="{FF2B5EF4-FFF2-40B4-BE49-F238E27FC236}">
                <a16:creationId xmlns:a16="http://schemas.microsoft.com/office/drawing/2014/main" id="{B6507B71-0588-5B0D-ED12-A655411F9E6E}"/>
              </a:ext>
            </a:extLst>
          </p:cNvPr>
          <p:cNvSpPr/>
          <p:nvPr/>
        </p:nvSpPr>
        <p:spPr>
          <a:xfrm rot="1885740">
            <a:off x="5387917" y="2286682"/>
            <a:ext cx="2855133" cy="2440112"/>
          </a:xfrm>
          <a:prstGeom prst="hexagon">
            <a:avLst/>
          </a:prstGeom>
          <a:blipFill dpi="0" rotWithShape="0">
            <a:blip r:embed="rId8"/>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Hexagon 2">
            <a:extLst>
              <a:ext uri="{FF2B5EF4-FFF2-40B4-BE49-F238E27FC236}">
                <a16:creationId xmlns:a16="http://schemas.microsoft.com/office/drawing/2014/main" id="{520C8CAF-3E7E-FB93-2C21-B98923FCF1C3}"/>
              </a:ext>
            </a:extLst>
          </p:cNvPr>
          <p:cNvSpPr/>
          <p:nvPr/>
        </p:nvSpPr>
        <p:spPr>
          <a:xfrm rot="1885740">
            <a:off x="9318242" y="1752129"/>
            <a:ext cx="1676624" cy="1512628"/>
          </a:xfrm>
          <a:prstGeom prst="hexagon">
            <a:avLst/>
          </a:prstGeom>
          <a:blipFill dpi="0" rotWithShape="0">
            <a:blip r:embed="rId9"/>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exagon 4">
            <a:extLst>
              <a:ext uri="{FF2B5EF4-FFF2-40B4-BE49-F238E27FC236}">
                <a16:creationId xmlns:a16="http://schemas.microsoft.com/office/drawing/2014/main" id="{A1918D8D-A437-41AB-C214-56B025CDD04C}"/>
              </a:ext>
            </a:extLst>
          </p:cNvPr>
          <p:cNvSpPr/>
          <p:nvPr/>
        </p:nvSpPr>
        <p:spPr>
          <a:xfrm rot="1885740">
            <a:off x="8542739" y="4470471"/>
            <a:ext cx="1862874" cy="1633361"/>
          </a:xfrm>
          <a:prstGeom prst="hexagon">
            <a:avLst/>
          </a:prstGeom>
          <a:blipFill dpi="0" rotWithShape="0">
            <a:blip r:embed="rId10"/>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2539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E8058A-1292-5225-08F2-12B7174A21E3}"/>
              </a:ext>
            </a:extLst>
          </p:cNvPr>
          <p:cNvSpPr>
            <a:spLocks noGrp="1"/>
          </p:cNvSpPr>
          <p:nvPr>
            <p:ph idx="1"/>
          </p:nvPr>
        </p:nvSpPr>
        <p:spPr>
          <a:xfrm>
            <a:off x="0" y="0"/>
            <a:ext cx="11164920" cy="6858000"/>
          </a:xfrm>
        </p:spPr>
        <p:txBody>
          <a:bodyPr/>
          <a:lstStyle/>
          <a:p>
            <a:r>
              <a:rPr lang="en-US" dirty="0"/>
              <a:t>5.Top 5 </a:t>
            </a:r>
            <a:r>
              <a:rPr lang="en-US" dirty="0" err="1"/>
              <a:t>counries</a:t>
            </a:r>
            <a:r>
              <a:rPr lang="en-US" dirty="0"/>
              <a:t> in total population :</a:t>
            </a:r>
            <a:br>
              <a:rPr lang="en-US" dirty="0"/>
            </a:br>
            <a:r>
              <a:rPr lang="en-US" dirty="0"/>
              <a:t>1).Angola</a:t>
            </a:r>
            <a:br>
              <a:rPr lang="en-US" dirty="0"/>
            </a:br>
            <a:r>
              <a:rPr lang="en-US" dirty="0"/>
              <a:t>2).Niger</a:t>
            </a:r>
            <a:br>
              <a:rPr lang="en-US" dirty="0"/>
            </a:br>
            <a:r>
              <a:rPr lang="en-US" dirty="0"/>
              <a:t>3).Chad</a:t>
            </a:r>
            <a:br>
              <a:rPr lang="en-US" dirty="0"/>
            </a:br>
            <a:r>
              <a:rPr lang="en-US" dirty="0"/>
              <a:t>4).</a:t>
            </a:r>
            <a:r>
              <a:rPr lang="en-US" dirty="0" err="1"/>
              <a:t>Unitd</a:t>
            </a:r>
            <a:r>
              <a:rPr lang="en-US" dirty="0"/>
              <a:t> Arab Kingdom </a:t>
            </a:r>
            <a:br>
              <a:rPr lang="en-US" dirty="0"/>
            </a:br>
            <a:r>
              <a:rPr lang="en-US" dirty="0"/>
              <a:t>5).Oman</a:t>
            </a:r>
            <a:br>
              <a:rPr lang="en-US" dirty="0"/>
            </a:br>
            <a:br>
              <a:rPr lang="en-US" dirty="0"/>
            </a:br>
            <a:r>
              <a:rPr lang="en-US" sz="2000" dirty="0">
                <a:solidFill>
                  <a:srgbClr val="FFC000"/>
                </a:solidFill>
              </a:rPr>
              <a:t>6.Highest decade in in population growth.</a:t>
            </a:r>
            <a:br>
              <a:rPr lang="en-US" sz="2000" dirty="0">
                <a:solidFill>
                  <a:srgbClr val="FFC000"/>
                </a:solidFill>
              </a:rPr>
            </a:br>
            <a:r>
              <a:rPr lang="en-US" sz="2000" dirty="0">
                <a:solidFill>
                  <a:srgbClr val="FFC000"/>
                </a:solidFill>
              </a:rPr>
              <a:t>    </a:t>
            </a:r>
            <a:r>
              <a:rPr lang="en-US" sz="2000" dirty="0">
                <a:solidFill>
                  <a:schemeClr val="accent2">
                    <a:lumMod val="60000"/>
                    <a:lumOff val="40000"/>
                  </a:schemeClr>
                </a:solidFill>
              </a:rPr>
              <a:t>2010 (9311616704)</a:t>
            </a:r>
            <a:br>
              <a:rPr lang="en-US" sz="2000" dirty="0">
                <a:solidFill>
                  <a:srgbClr val="FFC000"/>
                </a:solidFill>
              </a:rPr>
            </a:br>
            <a:r>
              <a:rPr lang="en-US" sz="2000" dirty="0">
                <a:solidFill>
                  <a:srgbClr val="FFC000"/>
                </a:solidFill>
              </a:rPr>
              <a:t>7. Highest decade in in population change</a:t>
            </a:r>
            <a:br>
              <a:rPr lang="en-US" sz="2000" dirty="0">
                <a:solidFill>
                  <a:srgbClr val="FFC000"/>
                </a:solidFill>
              </a:rPr>
            </a:br>
            <a:r>
              <a:rPr lang="en-US" sz="2000" dirty="0">
                <a:solidFill>
                  <a:srgbClr val="FFC000"/>
                </a:solidFill>
              </a:rPr>
              <a:t>    </a:t>
            </a:r>
            <a:r>
              <a:rPr lang="en-US" sz="2000" dirty="0">
                <a:solidFill>
                  <a:schemeClr val="accent2">
                    <a:lumMod val="60000"/>
                    <a:lumOff val="40000"/>
                  </a:schemeClr>
                </a:solidFill>
              </a:rPr>
              <a:t>2000 (3,53K)</a:t>
            </a:r>
            <a:br>
              <a:rPr lang="en-US" sz="2000" dirty="0">
                <a:solidFill>
                  <a:schemeClr val="accent2">
                    <a:lumMod val="60000"/>
                    <a:lumOff val="40000"/>
                  </a:schemeClr>
                </a:solidFill>
              </a:rPr>
            </a:br>
            <a:r>
              <a:rPr lang="en-US" sz="2000" dirty="0">
                <a:solidFill>
                  <a:srgbClr val="FFC000"/>
                </a:solidFill>
              </a:rPr>
              <a:t>8.average world share :</a:t>
            </a:r>
            <a:br>
              <a:rPr lang="en-US" sz="2000" dirty="0">
                <a:solidFill>
                  <a:srgbClr val="FFC000"/>
                </a:solidFill>
              </a:rPr>
            </a:br>
            <a:br>
              <a:rPr lang="en-US" sz="2000" dirty="0">
                <a:solidFill>
                  <a:srgbClr val="FFC000"/>
                </a:solidFill>
              </a:rPr>
            </a:br>
            <a:br>
              <a:rPr lang="en-US" sz="2000" dirty="0">
                <a:solidFill>
                  <a:srgbClr val="FFC000"/>
                </a:solidFill>
              </a:rPr>
            </a:br>
            <a:br>
              <a:rPr lang="en-US" sz="2000" dirty="0">
                <a:solidFill>
                  <a:srgbClr val="FFC000"/>
                </a:solidFill>
              </a:rPr>
            </a:br>
            <a:br>
              <a:rPr lang="en-US" sz="2000" dirty="0">
                <a:solidFill>
                  <a:srgbClr val="FFC000"/>
                </a:solidFill>
              </a:rPr>
            </a:br>
            <a:br>
              <a:rPr lang="en-US" sz="2000" dirty="0">
                <a:solidFill>
                  <a:srgbClr val="FFC000"/>
                </a:solidFill>
              </a:rPr>
            </a:br>
            <a:r>
              <a:rPr lang="en-US" sz="2000" dirty="0">
                <a:solidFill>
                  <a:srgbClr val="FFC000"/>
                </a:solidFill>
              </a:rPr>
              <a:t>9 top year in population growth and change:</a:t>
            </a:r>
            <a:br>
              <a:rPr lang="en-US" sz="2000" dirty="0">
                <a:solidFill>
                  <a:srgbClr val="FFC000"/>
                </a:solidFill>
              </a:rPr>
            </a:br>
            <a:r>
              <a:rPr lang="en-US" sz="2000" dirty="0">
                <a:solidFill>
                  <a:schemeClr val="accent2">
                    <a:lumMod val="60000"/>
                    <a:lumOff val="40000"/>
                  </a:schemeClr>
                </a:solidFill>
              </a:rPr>
              <a:t>2007 is the highest year in </a:t>
            </a:r>
            <a:r>
              <a:rPr lang="en-US" sz="2000" dirty="0" err="1">
                <a:solidFill>
                  <a:schemeClr val="accent2">
                    <a:lumMod val="60000"/>
                    <a:lumOff val="40000"/>
                  </a:schemeClr>
                </a:solidFill>
              </a:rPr>
              <a:t>population_growth</a:t>
            </a:r>
            <a:r>
              <a:rPr lang="en-US" sz="2000" dirty="0">
                <a:solidFill>
                  <a:schemeClr val="accent2">
                    <a:lumMod val="60000"/>
                    <a:lumOff val="40000"/>
                  </a:schemeClr>
                </a:solidFill>
              </a:rPr>
              <a:t>(AVG 1.59)</a:t>
            </a:r>
            <a:br>
              <a:rPr lang="en-US" sz="2000" dirty="0">
                <a:solidFill>
                  <a:schemeClr val="accent2">
                    <a:lumMod val="60000"/>
                    <a:lumOff val="40000"/>
                  </a:schemeClr>
                </a:solidFill>
              </a:rPr>
            </a:br>
            <a:r>
              <a:rPr lang="en-US" sz="2000" dirty="0">
                <a:solidFill>
                  <a:schemeClr val="accent2">
                    <a:lumMod val="60000"/>
                    <a:lumOff val="40000"/>
                  </a:schemeClr>
                </a:solidFill>
              </a:rPr>
              <a:t>2012 is the highest year in </a:t>
            </a:r>
            <a:r>
              <a:rPr lang="en-US" sz="2000" dirty="0" err="1">
                <a:solidFill>
                  <a:schemeClr val="accent2">
                    <a:lumMod val="60000"/>
                    <a:lumOff val="40000"/>
                  </a:schemeClr>
                </a:solidFill>
              </a:rPr>
              <a:t>population_change</a:t>
            </a:r>
            <a:r>
              <a:rPr lang="en-US" sz="2000" dirty="0">
                <a:solidFill>
                  <a:schemeClr val="accent2">
                    <a:lumMod val="60000"/>
                    <a:lumOff val="40000"/>
                  </a:schemeClr>
                </a:solidFill>
              </a:rPr>
              <a:t> (AVG 3.7 M)</a:t>
            </a:r>
            <a:br>
              <a:rPr lang="en-US" sz="2000" dirty="0">
                <a:solidFill>
                  <a:schemeClr val="accent2">
                    <a:lumMod val="60000"/>
                    <a:lumOff val="40000"/>
                  </a:schemeClr>
                </a:solidFill>
              </a:rPr>
            </a:br>
            <a:r>
              <a:rPr lang="en-US" sz="2000" dirty="0">
                <a:solidFill>
                  <a:srgbClr val="FFC000"/>
                </a:solidFill>
              </a:rPr>
              <a:t>10. Highest country  in rank:</a:t>
            </a:r>
            <a:br>
              <a:rPr lang="en-US" sz="2000" dirty="0">
                <a:solidFill>
                  <a:srgbClr val="FFC000"/>
                </a:solidFill>
              </a:rPr>
            </a:br>
            <a:r>
              <a:rPr lang="en-US" sz="2000" dirty="0">
                <a:solidFill>
                  <a:srgbClr val="FFC000"/>
                </a:solidFill>
              </a:rPr>
              <a:t>Tuvalu (AVG rank 258.60)</a:t>
            </a:r>
            <a:endParaRPr lang="en-US" dirty="0">
              <a:solidFill>
                <a:schemeClr val="accent2">
                  <a:lumMod val="60000"/>
                  <a:lumOff val="40000"/>
                </a:schemeClr>
              </a:solidFill>
            </a:endParaRPr>
          </a:p>
        </p:txBody>
      </p:sp>
      <p:sp>
        <p:nvSpPr>
          <p:cNvPr id="4" name="Rectangle: Rounded Corners 3">
            <a:extLst>
              <a:ext uri="{FF2B5EF4-FFF2-40B4-BE49-F238E27FC236}">
                <a16:creationId xmlns:a16="http://schemas.microsoft.com/office/drawing/2014/main" id="{42DD2DA9-F6A3-691A-69B3-04251CFD67F4}"/>
              </a:ext>
            </a:extLst>
          </p:cNvPr>
          <p:cNvSpPr/>
          <p:nvPr/>
        </p:nvSpPr>
        <p:spPr>
          <a:xfrm>
            <a:off x="3200401" y="3558688"/>
            <a:ext cx="2286000" cy="1502229"/>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8.Average of </a:t>
            </a:r>
            <a:r>
              <a:rPr lang="en-US" dirty="0" err="1"/>
              <a:t>World_share</a:t>
            </a:r>
            <a:br>
              <a:rPr lang="en-US" dirty="0"/>
            </a:br>
            <a:r>
              <a:rPr lang="en-US" dirty="0">
                <a:solidFill>
                  <a:srgbClr val="FFC000"/>
                </a:solidFill>
              </a:rPr>
              <a:t>0.77</a:t>
            </a:r>
          </a:p>
        </p:txBody>
      </p:sp>
      <p:sp>
        <p:nvSpPr>
          <p:cNvPr id="2" name="Hexagon 1">
            <a:extLst>
              <a:ext uri="{FF2B5EF4-FFF2-40B4-BE49-F238E27FC236}">
                <a16:creationId xmlns:a16="http://schemas.microsoft.com/office/drawing/2014/main" id="{E4910998-657F-F683-D8D4-7558A59E40AB}"/>
              </a:ext>
            </a:extLst>
          </p:cNvPr>
          <p:cNvSpPr/>
          <p:nvPr/>
        </p:nvSpPr>
        <p:spPr>
          <a:xfrm rot="1885740">
            <a:off x="6683316" y="705532"/>
            <a:ext cx="2855133" cy="2440112"/>
          </a:xfrm>
          <a:prstGeom prst="hexagon">
            <a:avLst/>
          </a:prstGeom>
          <a:blipFill dpi="0" rotWithShape="0">
            <a:blip r:embed="rId2"/>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Hexagon 4">
            <a:extLst>
              <a:ext uri="{FF2B5EF4-FFF2-40B4-BE49-F238E27FC236}">
                <a16:creationId xmlns:a16="http://schemas.microsoft.com/office/drawing/2014/main" id="{F986ECCF-4337-53BF-5593-656A8E5B467E}"/>
              </a:ext>
            </a:extLst>
          </p:cNvPr>
          <p:cNvSpPr/>
          <p:nvPr/>
        </p:nvSpPr>
        <p:spPr>
          <a:xfrm rot="1885740">
            <a:off x="8400078" y="4356172"/>
            <a:ext cx="1862874" cy="1633361"/>
          </a:xfrm>
          <a:prstGeom prst="hexagon">
            <a:avLst/>
          </a:prstGeom>
          <a:blipFill dpi="0" rotWithShape="0">
            <a:blip r:embed="rId3"/>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929043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B5FA8-2A8F-0027-7818-53177331AE05}"/>
              </a:ext>
            </a:extLst>
          </p:cNvPr>
          <p:cNvSpPr>
            <a:spLocks noGrp="1"/>
          </p:cNvSpPr>
          <p:nvPr>
            <p:ph type="title"/>
          </p:nvPr>
        </p:nvSpPr>
        <p:spPr>
          <a:xfrm>
            <a:off x="913795" y="96350"/>
            <a:ext cx="10353762" cy="874034"/>
          </a:xfrm>
        </p:spPr>
        <p:txBody>
          <a:bodyPr/>
          <a:lstStyle/>
          <a:p>
            <a:r>
              <a:rPr lang="en-US" dirty="0"/>
              <a:t>Highlights &amp; Recommendations </a:t>
            </a:r>
          </a:p>
        </p:txBody>
      </p:sp>
      <p:sp>
        <p:nvSpPr>
          <p:cNvPr id="3" name="Content Placeholder 2">
            <a:extLst>
              <a:ext uri="{FF2B5EF4-FFF2-40B4-BE49-F238E27FC236}">
                <a16:creationId xmlns:a16="http://schemas.microsoft.com/office/drawing/2014/main" id="{C9E2DD90-1B6E-96ED-E5FA-6EFB3CF42BE2}"/>
              </a:ext>
            </a:extLst>
          </p:cNvPr>
          <p:cNvSpPr>
            <a:spLocks noGrp="1"/>
          </p:cNvSpPr>
          <p:nvPr>
            <p:ph idx="1"/>
          </p:nvPr>
        </p:nvSpPr>
        <p:spPr>
          <a:xfrm>
            <a:off x="345233" y="970384"/>
            <a:ext cx="11653934" cy="5645019"/>
          </a:xfrm>
        </p:spPr>
        <p:txBody>
          <a:bodyPr/>
          <a:lstStyle/>
          <a:p>
            <a:r>
              <a:rPr lang="en-US" b="1" dirty="0"/>
              <a:t>Insights</a:t>
            </a:r>
          </a:p>
          <a:p>
            <a:pPr>
              <a:buFont typeface="+mj-lt"/>
              <a:buAutoNum type="arabicPeriod"/>
            </a:pPr>
            <a:r>
              <a:rPr lang="en-US" b="1" dirty="0"/>
              <a:t>Asymmetric Growth:</a:t>
            </a:r>
            <a:r>
              <a:rPr lang="en-US" dirty="0"/>
              <a:t> Sub-Saharan Africa and South Asia continue to record the fastest population growth, while Europe and East Asia are experiencing slowdown or even decline.</a:t>
            </a:r>
          </a:p>
          <a:p>
            <a:pPr>
              <a:buFont typeface="+mj-lt"/>
              <a:buAutoNum type="arabicPeriod"/>
            </a:pPr>
            <a:r>
              <a:rPr lang="en-US" b="1" dirty="0"/>
              <a:t>Urbanization Pressure:</a:t>
            </a:r>
            <a:r>
              <a:rPr lang="en-US" dirty="0"/>
              <a:t> Rapid growth in Africa and Asia will heavily strain infrastructure (transport, energy, water).</a:t>
            </a:r>
          </a:p>
          <a:p>
            <a:pPr>
              <a:buFont typeface="+mj-lt"/>
              <a:buAutoNum type="arabicPeriod"/>
            </a:pPr>
            <a:r>
              <a:rPr lang="en-US" b="1" dirty="0"/>
              <a:t>Aging Populations:</a:t>
            </a:r>
            <a:r>
              <a:rPr lang="en-US" dirty="0"/>
              <a:t> Europe, Japan, and South Korea are entering population aging phases → requiring migration policies or extended retirement age.</a:t>
            </a:r>
          </a:p>
          <a:p>
            <a:pPr>
              <a:buFont typeface="+mj-lt"/>
              <a:buAutoNum type="arabicPeriod"/>
            </a:pPr>
            <a:r>
              <a:rPr lang="en-US" b="1" dirty="0"/>
              <a:t>Shifting World Share:</a:t>
            </a:r>
            <a:r>
              <a:rPr lang="en-US" dirty="0"/>
              <a:t> India has overtaken China as the most populous country → with major economic and geopolitical consequences.</a:t>
            </a:r>
          </a:p>
          <a:p>
            <a:pPr>
              <a:buFont typeface="+mj-lt"/>
              <a:buAutoNum type="arabicPeriod"/>
            </a:pPr>
            <a:r>
              <a:rPr lang="en-US" b="1" dirty="0"/>
              <a:t>Global Inequality:</a:t>
            </a:r>
            <a:r>
              <a:rPr lang="en-US" dirty="0"/>
              <a:t> Small nations (Tuvalu, Nauru, Palau) contribute almost nothing (&lt;0.01%) to world population, while 5 countries account for more than half of global population.</a:t>
            </a:r>
          </a:p>
          <a:p>
            <a:endParaRPr lang="en-US" dirty="0"/>
          </a:p>
        </p:txBody>
      </p:sp>
    </p:spTree>
    <p:extLst>
      <p:ext uri="{BB962C8B-B14F-4D97-AF65-F5344CB8AC3E}">
        <p14:creationId xmlns:p14="http://schemas.microsoft.com/office/powerpoint/2010/main" val="18946589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739BE-DD05-31DD-1721-DA8D75FD59F9}"/>
              </a:ext>
            </a:extLst>
          </p:cNvPr>
          <p:cNvSpPr>
            <a:spLocks noGrp="1"/>
          </p:cNvSpPr>
          <p:nvPr>
            <p:ph type="title"/>
          </p:nvPr>
        </p:nvSpPr>
        <p:spPr/>
        <p:txBody>
          <a:bodyPr>
            <a:normAutofit fontScale="90000"/>
          </a:bodyPr>
          <a:lstStyle/>
          <a:p>
            <a:r>
              <a:rPr lang="en-US" b="1" dirty="0"/>
              <a:t>Recommendations</a:t>
            </a:r>
            <a:br>
              <a:rPr lang="en-US" b="1" dirty="0"/>
            </a:br>
            <a:endParaRPr lang="en-US" dirty="0"/>
          </a:p>
        </p:txBody>
      </p:sp>
      <p:sp>
        <p:nvSpPr>
          <p:cNvPr id="3" name="Content Placeholder 2">
            <a:extLst>
              <a:ext uri="{FF2B5EF4-FFF2-40B4-BE49-F238E27FC236}">
                <a16:creationId xmlns:a16="http://schemas.microsoft.com/office/drawing/2014/main" id="{F1A331E4-9FF7-483A-3817-C44430FE7E91}"/>
              </a:ext>
            </a:extLst>
          </p:cNvPr>
          <p:cNvSpPr>
            <a:spLocks noGrp="1"/>
          </p:cNvSpPr>
          <p:nvPr>
            <p:ph idx="1"/>
          </p:nvPr>
        </p:nvSpPr>
        <p:spPr>
          <a:xfrm>
            <a:off x="913795" y="1259633"/>
            <a:ext cx="10353762" cy="4531567"/>
          </a:xfrm>
        </p:spPr>
        <p:txBody>
          <a:bodyPr>
            <a:normAutofit/>
          </a:bodyPr>
          <a:lstStyle/>
          <a:p>
            <a:r>
              <a:rPr lang="en-US" b="1" dirty="0"/>
              <a:t>For Governments:</a:t>
            </a:r>
            <a:endParaRPr lang="en-US" dirty="0"/>
          </a:p>
          <a:p>
            <a:pPr>
              <a:buFont typeface="Arial" panose="020B0604020202020204" pitchFamily="34" charset="0"/>
              <a:buChar char="•"/>
            </a:pPr>
            <a:r>
              <a:rPr lang="en-US" dirty="0"/>
              <a:t>Invest in education and healthcare in high-growth countries.</a:t>
            </a:r>
          </a:p>
          <a:p>
            <a:pPr>
              <a:buFont typeface="Arial" panose="020B0604020202020204" pitchFamily="34" charset="0"/>
              <a:buChar char="•"/>
            </a:pPr>
            <a:r>
              <a:rPr lang="en-US" dirty="0"/>
              <a:t>Develop migration policies to counterbalance aging in Europe and East Asia.</a:t>
            </a:r>
          </a:p>
          <a:p>
            <a:r>
              <a:rPr lang="en-US" b="1" dirty="0"/>
              <a:t>For Businesses:</a:t>
            </a:r>
            <a:endParaRPr lang="en-US" dirty="0"/>
          </a:p>
          <a:p>
            <a:pPr>
              <a:buFont typeface="Arial" panose="020B0604020202020204" pitchFamily="34" charset="0"/>
              <a:buChar char="•"/>
            </a:pPr>
            <a:r>
              <a:rPr lang="en-US" dirty="0"/>
              <a:t>Expand into African and Indian markets as future growth opportunities.</a:t>
            </a:r>
          </a:p>
          <a:p>
            <a:pPr>
              <a:buFont typeface="Arial" panose="020B0604020202020204" pitchFamily="34" charset="0"/>
              <a:buChar char="•"/>
            </a:pPr>
            <a:r>
              <a:rPr lang="en-US" dirty="0"/>
              <a:t>Invest in youth-focused industries (education, technology).</a:t>
            </a:r>
          </a:p>
          <a:p>
            <a:r>
              <a:rPr lang="en-US" b="1" dirty="0"/>
              <a:t>For NGOs / World Bank:</a:t>
            </a:r>
            <a:endParaRPr lang="en-US" dirty="0"/>
          </a:p>
          <a:p>
            <a:pPr>
              <a:buFont typeface="Arial" panose="020B0604020202020204" pitchFamily="34" charset="0"/>
              <a:buChar char="•"/>
            </a:pPr>
            <a:r>
              <a:rPr lang="en-US" dirty="0"/>
              <a:t>Support family planning programs in high-growth nations.</a:t>
            </a:r>
          </a:p>
          <a:p>
            <a:pPr>
              <a:buFont typeface="Arial" panose="020B0604020202020204" pitchFamily="34" charset="0"/>
              <a:buChar char="•"/>
            </a:pPr>
            <a:r>
              <a:rPr lang="en-US" dirty="0"/>
              <a:t>Finance sustainable infrastructure (renewable energy, water, transport).</a:t>
            </a:r>
          </a:p>
          <a:p>
            <a:endParaRPr lang="en-US" dirty="0"/>
          </a:p>
        </p:txBody>
      </p:sp>
    </p:spTree>
    <p:extLst>
      <p:ext uri="{BB962C8B-B14F-4D97-AF65-F5344CB8AC3E}">
        <p14:creationId xmlns:p14="http://schemas.microsoft.com/office/powerpoint/2010/main" val="12227756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4CBDB99-15E6-DF49-18B7-24622A114AF0}"/>
              </a:ext>
            </a:extLst>
          </p:cNvPr>
          <p:cNvSpPr>
            <a:spLocks noGrp="1" noChangeArrowheads="1"/>
          </p:cNvSpPr>
          <p:nvPr>
            <p:ph idx="1"/>
          </p:nvPr>
        </p:nvSpPr>
        <p:spPr bwMode="auto">
          <a:xfrm>
            <a:off x="2513045" y="1884151"/>
            <a:ext cx="716591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2400" dirty="0"/>
              <a:t>Our analysis of World Bank population data shows that the world is not growing equally. Some regions are aging, others are booming, and a few are shrinking. Understanding these dynamics is not just about numbers—it’s about shaping policies, investments, and strategies for a sustainable future. The next decade will be defined by how governments, businesses, and global organizations respond to these demographic shifts.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912776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418278-63B1-AC27-001B-47D06763D440}"/>
              </a:ext>
            </a:extLst>
          </p:cNvPr>
          <p:cNvSpPr>
            <a:spLocks noGrp="1"/>
          </p:cNvSpPr>
          <p:nvPr>
            <p:ph idx="1"/>
          </p:nvPr>
        </p:nvSpPr>
        <p:spPr>
          <a:xfrm>
            <a:off x="355730" y="2132142"/>
            <a:ext cx="10968977" cy="2593716"/>
          </a:xfrm>
        </p:spPr>
        <p:txBody>
          <a:bodyPr/>
          <a:lstStyle/>
          <a:p>
            <a:pPr marL="36900" indent="0" algn="ctr">
              <a:buNone/>
            </a:pPr>
            <a:r>
              <a:rPr lang="en-US" dirty="0"/>
              <a:t>And That’s All</a:t>
            </a:r>
            <a:br>
              <a:rPr lang="en-US" dirty="0"/>
            </a:br>
            <a:br>
              <a:rPr lang="en-US" dirty="0"/>
            </a:br>
            <a:r>
              <a:rPr lang="en-US" dirty="0"/>
              <a:t>Thank You</a:t>
            </a:r>
            <a:br>
              <a:rPr lang="en-US" dirty="0"/>
            </a:br>
            <a:br>
              <a:rPr lang="en-US" dirty="0"/>
            </a:br>
            <a:r>
              <a:rPr lang="en-US" dirty="0"/>
              <a:t>ANY </a:t>
            </a:r>
            <a:br>
              <a:rPr lang="en-US" dirty="0"/>
            </a:br>
            <a:br>
              <a:rPr lang="en-US" dirty="0"/>
            </a:br>
            <a:r>
              <a:rPr lang="en-US" dirty="0"/>
              <a:t>QUESTIONS?</a:t>
            </a:r>
          </a:p>
        </p:txBody>
      </p:sp>
    </p:spTree>
    <p:extLst>
      <p:ext uri="{BB962C8B-B14F-4D97-AF65-F5344CB8AC3E}">
        <p14:creationId xmlns:p14="http://schemas.microsoft.com/office/powerpoint/2010/main" val="19660115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FF747C5C-A8E8-4833-9E55-3D08FE4E487A}"/>
    </a:ext>
  </a:extLst>
</a:theme>
</file>

<file path=docProps/app.xml><?xml version="1.0" encoding="utf-8"?>
<Properties xmlns="http://schemas.openxmlformats.org/officeDocument/2006/extended-properties" xmlns:vt="http://schemas.openxmlformats.org/officeDocument/2006/docPropsVTypes">
  <Template>TM04033929[[fn=Slate]]</Template>
  <TotalTime>530</TotalTime>
  <Words>2592</Words>
  <Application>Microsoft Office PowerPoint</Application>
  <PresentationFormat>Widescreen</PresentationFormat>
  <Paragraphs>80</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Arial Unicode MS</vt:lpstr>
      <vt:lpstr>Calisto MT</vt:lpstr>
      <vt:lpstr>inherit</vt:lpstr>
      <vt:lpstr>quote-cjk-patch</vt:lpstr>
      <vt:lpstr>Wingdings 2</vt:lpstr>
      <vt:lpstr>Slate</vt:lpstr>
      <vt:lpstr>   </vt:lpstr>
      <vt:lpstr>What Is the project About ?</vt:lpstr>
      <vt:lpstr>Why does this matter?</vt:lpstr>
      <vt:lpstr>What did we discover?</vt:lpstr>
      <vt:lpstr>Before we get to those fascinating insights, it's important to understand the raw material we started with. The journey from raw data to revelation was the most critical part of this project</vt:lpstr>
      <vt:lpstr>After collecting the data and notice the problems in Raw_data we move to the next step: Data Cleaning</vt:lpstr>
      <vt:lpstr>Data Cleaning Steps :</vt:lpstr>
      <vt:lpstr>Next atep we transfer the data to jupyter notebook to continue the cleaning process:</vt:lpstr>
      <vt:lpstr>Jupyter codes explanation and purposes: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data shape after the cleanibg process</vt:lpstr>
      <vt:lpstr>Next step after cleaning the data and adding new calculated columns, the next crucial phase is :</vt:lpstr>
      <vt:lpstr>PowerPoint Presentation</vt:lpstr>
      <vt:lpstr>PowerPoint Presentation</vt:lpstr>
      <vt:lpstr>PowerPoint Presentation</vt:lpstr>
      <vt:lpstr>PowerPoint Presentation</vt:lpstr>
      <vt:lpstr>PowerPoint Presentation</vt:lpstr>
      <vt:lpstr>Highlights &amp; Recommendations </vt:lpstr>
      <vt:lpstr>Recommendations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Eltoukhy</dc:creator>
  <cp:lastModifiedBy>Mohamed Eltoukhy</cp:lastModifiedBy>
  <cp:revision>6</cp:revision>
  <dcterms:created xsi:type="dcterms:W3CDTF">2025-09-03T07:01:51Z</dcterms:created>
  <dcterms:modified xsi:type="dcterms:W3CDTF">2025-09-03T16:06:01Z</dcterms:modified>
</cp:coreProperties>
</file>